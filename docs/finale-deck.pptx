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ce2a7f8-07a9-5464-05ed-59a34a685fd2}">
          <p14:sldIdLst>
            <p14:sldId id="256"/>
            <p14:sldId id="257"/>
          </p14:sldIdLst>
        </p14:section>
        <p14:section name="Integration" id="{9af00bba-6985-a91e-e482-83804e31920e}">
          <p14:sldIdLst>
            <p14:sldId id="258"/>
            <p14:sldId id="259"/>
          </p14:sldIdLst>
        </p14:section>
        <p14:section name="Orchestration &amp; decisions" id="{6781e28e-7534-1028-4260-e1467ec3234c}">
          <p14:sldIdLst>
            <p14:sldId id="260"/>
          </p14:sldIdLst>
        </p14:section>
        <p14:section name="Evidence &amp; reliability" id="{145de545-4249-02d3-5959-2787dd0d426f}">
          <p14:sldIdLst>
            <p14:sldId id="261"/>
            <p14:sldId id="262"/>
          </p14:sldIdLst>
        </p14:section>
        <p14:section name="Live system &amp; engineering" id="{026488c2-091a-3e73-a3d4-31eb5ce68ac8}">
          <p14:sldIdLst>
            <p14:sldId id="263"/>
            <p14:sldId id="264"/>
          </p14:sldIdLst>
        </p14:section>
        <p14:section name="Team" id="{914de2a8-d78d-5770-4461-9ea708a37937}">
          <p14:sldIdLst>
            <p14:sldId id="265"/>
          </p14:sldIdLst>
        </p14:section>
        <p14:section name="Close" id="{2874dded-4f8d-c04f-f00b-fff2f5cdc48c}">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Pod 12. We joined five agents (Receiving, Prep, Pack, Returns and Recovery) into one system in which a single evidence trail follows each unit from receipt to a final outcome. This deck is only a backup: everything on it is live at our URL, and we would rather you try the system than read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unit goes through five decisions, and each has money attached: a supplier claim at receipt, inbound defect fees at prep, a wrong box sealed at pack, the restock-or-dispose call at returns, and finally which fees to dispute. In the organisers' own sample a person sealed the wrong box twice. The quote is the rule our Recovery agent is built on: we would rather miss a claim than file a wrong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hand-off goes through one orchestrator: it sends each agent all the earlier evidence, validates what comes back, stores it, and decides what runs next. Agents never call each other and never set workflow state. Receiving, Prep, Pack and Returns each make one Gemini call on real photos and then fixed rules decide; Recovery is rules only, with no model. For the finale it runs as one web app on Render, with Supabase Postgres holding workflows, evidence, photos and the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UNIT-0014 is an FBA unit that came back as a return. Routing skips Pack because Amazon packs FBA units, and every record is handed forward to every later stage. Recovery reads all of them, contradicts a $2.00 inbound-defect fee by citing the Prep record, and leaves a $4.75 weight-tier fee SILENT because nothing measured the weight. To be precise: in this example the photo stages replay the organisers' recorded evidence and our real Recovery decides; in the live run every stage is our agent on photos taken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is data in flow.json: Prep for FBA units, Pack for merchant-fulfilled, Returns only when the unit came back, and Recovery always. Workflow status and the final outcome are derived from the evidence chain by the orchestrator, so no agent can declare success. Three rules carry decision quality: UNCERTAIN is never turned into PASS and goes to a person; SILENT evidence is never a claim; and a failure is recorded and never reported as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any final outcome you can walk to the records behind it, to each check, to the evidence each check cites, and down to the SHA-256 of the exact photo bytes the model saw. Every record lists its upstream_refs and carries a content hash, and a record id that comes back with a different hash is refused. A person's override is a new entry with who, why, when and what it supersedes, and the original stays: overriding Prep to FAIL on UNIT-0014 made Recovery run again and withdraw the $2.00 claim. We say it plainly: a content hash shows change, it is not tamper-proof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evaluation script breaks each of the five stages five ways (down, timeout, invalid output, crash, and evidence about another organisation) across all 100 sample units: 2,500 workflows, 1,575 of which reach the broken stage. Zero crashes, and not one ended as clean: each recorded the error against the right stage and ended FAILED or INCOMPLETE, and resume picks it up again. Tenancy is enforced in every agent and again in the orchestrator and the store, and an agent with no photo records no_capture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works on the URL above, so please try it. Log in to the admin console, run a unit, open any evidence record, and clear an UNCERTAIN from the review queue with your own override. Use the agent switch to take an agent down: the workflow is recorded as FAILED, never clean, and resumes when the agent is back. Each organisation has its own access code and cannot reach another's units, and on the day each teammate runs their own agent from a phone 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536 automated tests pass without an API key. They use scripted models, so they prove the rules, hand-offs, failure handling and tenancy, not how often Gemini is right. The system evaluation re-runs in about two minutes and matches the organisers' reference outcome on 97 of 100 units; on the other three we deliberately do not claim, because Receiving recorded damage that could explain the fee. Per-check accuracy on our own photos is still a small sample, and Pack's Round 2 numbers tell us a person should make the final call on a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us owns one agent and will speak to it ourselves; the orchestrator, the shared contracts, the tests, the docs and the demo we built together. (Fill in the names and contributions before presenting.) During the live run each teammate drives their own agent from their phone, so you can see five people operating one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order of the live run; each step is a real model call on a photo we take here, so results depend on the photo and we will say so if a stage answers UNCERTAIN. If the network fails we will switch to our recorded console walkthrough and say that we have. Thank you: the URL stays up, and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11094415" cy="457200"/>
          </a:xfrm>
          <a:prstGeom prst="rect">
            <a:avLst/>
          </a:prstGeom>
          <a:noFill/>
          <a:ln/>
        </p:spPr>
        <p:txBody>
          <a:bodyPr wrap="square" rtlCol="0"/>
          <a:lstStyle>
            <a:lvl1pPr algn="l" indent="0" marL="0">
              <a:buNone/>
              <a:defRPr lang="en-US" sz="2000" b="1"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548640" y="1463040"/>
            <a:ext cx="11094415" cy="1234440"/>
          </a:xfrm>
          <a:prstGeom prst="rect">
            <a:avLst/>
          </a:prstGeom>
          <a:noFill/>
          <a:ln/>
        </p:spPr>
        <p:txBody>
          <a:bodyPr wrap="square" rtlCol="0"/>
          <a:lstStyle>
            <a:lvl1pPr algn="l" indent="0" marL="0">
              <a:buNone/>
              <a:defRPr lang="en-US" sz="7200" b="1" dirty="0">
                <a:solidFill>
                  <a:schemeClr val="bg1"/>
                </a:solidFill>
              </a:defRPr>
            </a:lvl1pPr>
          </a:lstStyle>
          <a:p>
            <a:pPr algn="l" indent="0" marL="0">
              <a:buNone/>
            </a:pPr>
            <a:endParaRPr lang="en-US" sz="7200" dirty="0"/>
          </a:p>
        </p:txBody>
      </p:sp>
      <p:sp>
        <p:nvSpPr>
          <p:cNvPr id="4" name="Text 0"/>
          <p:cNvSpPr/>
          <p:nvPr>
            <p:ph idx="102" type="body" hasCustomPrompt="1"/>
          </p:nvPr>
        </p:nvSpPr>
        <p:spPr>
          <a:xfrm>
            <a:off x="548640" y="2743200"/>
            <a:ext cx="11094415" cy="685800"/>
          </a:xfrm>
          <a:prstGeom prst="rect">
            <a:avLst/>
          </a:prstGeom>
          <a:noFill/>
          <a:ln/>
        </p:spPr>
        <p:txBody>
          <a:bodyPr wrap="square" rtlCol="0"/>
          <a:lstStyle>
            <a:lvl1pPr algn="l" indent="0" marL="0">
              <a:buNone/>
              <a:defRPr lang="en-US" sz="3200" dirty="0">
                <a:solidFill>
                  <a:schemeClr val="bg1"/>
                </a:solidFill>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65760"/>
          </a:xfrm>
          <a:prstGeom prst="rect">
            <a:avLst/>
          </a:prstGeom>
          <a:noFill/>
          <a:ln/>
        </p:spPr>
        <p:txBody>
          <a:bodyPr wrap="square" rtlCol="0"/>
          <a:lstStyle>
            <a:lvl1pPr algn="l" indent="0" marL="0">
              <a:buNone/>
              <a:defRPr lang="en-US" sz="1600" b="1" dirty="0">
                <a:solidFill>
                  <a:schemeClr val="accent1"/>
                </a:solidFill>
              </a:defRPr>
            </a:lvl1pPr>
          </a:lstStyle>
          <a:p>
            <a:pPr algn="l" indent="0" marL="0">
              <a:buNone/>
            </a:pPr>
            <a:endParaRPr lang="en-US" sz="1600" dirty="0"/>
          </a:p>
        </p:txBody>
      </p:sp>
      <p:sp>
        <p:nvSpPr>
          <p:cNvPr id="3" name="Text 0"/>
          <p:cNvSpPr/>
          <p:nvPr>
            <p:ph idx="101" type="title" hasCustomPrompt="1"/>
          </p:nvPr>
        </p:nvSpPr>
        <p:spPr>
          <a:xfrm>
            <a:off x="548640" y="713232"/>
            <a:ext cx="11094415" cy="777240"/>
          </a:xfrm>
          <a:prstGeom prst="rect">
            <a:avLst/>
          </a:prstGeom>
          <a:noFill/>
          <a:ln/>
        </p:spPr>
        <p:txBody>
          <a:bodyPr wrap="square" rtlCol="0"/>
          <a:lstStyle>
            <a:lvl1pPr algn="l" indent="0" marL="0">
              <a:buNone/>
              <a:defRPr lang="en-US" sz="3800" b="1" dirty="0">
                <a:solidFill>
                  <a:schemeClr val="tx1"/>
                </a:solidFill>
              </a:defRPr>
            </a:lvl1pPr>
          </a:lstStyle>
          <a:p>
            <a:pPr algn="l" indent="0" marL="0">
              <a:buNone/>
            </a:pPr>
            <a:endParaRPr lang="en-US" sz="3800" dirty="0"/>
          </a:p>
        </p:txBody>
      </p:sp>
      <p:sp>
        <p:nvSpPr>
          <p:cNvPr id="4"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200" dirty="0">
                <a:solidFill>
                  <a:schemeClr val="tx2"/>
                </a:solidFill>
              </a:rPr>
              <a:t>Pod 12 · CUBE Buildathon 2026 Grand Finale</a:t>
            </a:r>
            <a:endParaRPr lang="en-US" sz="1200" dirty="0"/>
          </a:p>
        </p:txBody>
      </p:sp>
      <p:sp>
        <p:nvSpPr>
          <p:cNvPr id="25" name="Slide Number Placeholder 0"/>
          <p:cNvSpPr>
            <a:spLocks noGrp="1"/>
          </p:cNvSpPr>
          <p:nvPr>
            <p:ph type="sldNum" sz="quarter" idx="4294967295"/>
          </p:nvPr>
        </p:nvSpPr>
        <p:spPr>
          <a:xfrm>
            <a:off x="11000232" y="638251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65760"/>
          </a:xfrm>
          <a:prstGeom prst="rect">
            <a:avLst/>
          </a:prstGeom>
          <a:noFill/>
          <a:ln/>
        </p:spPr>
        <p:txBody>
          <a:bodyPr wrap="square" rtlCol="0"/>
          <a:lstStyle>
            <a:lvl1pPr algn="l" indent="0" marL="0">
              <a:buNone/>
              <a:defRPr lang="en-US" sz="1600" b="1" dirty="0">
                <a:solidFill>
                  <a:schemeClr val="accent2"/>
                </a:solidFill>
              </a:defRPr>
            </a:lvl1pPr>
          </a:lstStyle>
          <a:p>
            <a:pPr algn="l" indent="0" marL="0">
              <a:buNone/>
            </a:pPr>
            <a:endParaRPr lang="en-US" sz="1600" dirty="0"/>
          </a:p>
        </p:txBody>
      </p:sp>
      <p:sp>
        <p:nvSpPr>
          <p:cNvPr id="3" name="Text 0"/>
          <p:cNvSpPr/>
          <p:nvPr>
            <p:ph idx="101" type="title" hasCustomPrompt="1"/>
          </p:nvPr>
        </p:nvSpPr>
        <p:spPr>
          <a:xfrm>
            <a:off x="548640" y="713232"/>
            <a:ext cx="11094415" cy="7772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4"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200" dirty="0">
                <a:solidFill>
                  <a:schemeClr val="accent5"/>
                </a:solidFill>
              </a:rPr>
              <a:t>Pod 12 · CUBE Buildathon 2026 Grand Finale</a:t>
            </a:r>
            <a:endParaRPr lang="en-US" sz="1200" dirty="0"/>
          </a:p>
        </p:txBody>
      </p:sp>
      <p:sp>
        <p:nvSpPr>
          <p:cNvPr id="25" name="Slide Number Placeholder 0"/>
          <p:cNvSpPr>
            <a:spLocks noGrp="1"/>
          </p:cNvSpPr>
          <p:nvPr>
            <p:ph type="sldNum" sz="quarter" idx="4294967295"/>
          </p:nvPr>
        </p:nvSpPr>
        <p:spPr>
          <a:xfrm>
            <a:off x="11000232" y="638251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38251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11094415" cy="457200"/>
          </a:xfrm>
          <a:prstGeom prst="rect">
            <a:avLst/>
          </a:prstGeom>
          <a:noFill/>
          <a:ln/>
        </p:spPr>
        <p:txBody>
          <a:bodyPr wrap="square" lIns="0" tIns="0" rIns="0" bIns="0" rtlCol="0" anchor="t"/>
          <a:lstStyle/>
          <a:p>
            <a:pPr algn="l" indent="0" marL="0">
              <a:buNone/>
            </a:pPr>
            <a:r>
              <a:rPr lang="en-US" sz="2000" b="1" dirty="0">
                <a:solidFill>
                  <a:schemeClr val="accent2"/>
                </a:solidFill>
              </a:rPr>
              <a:t>CUBE BUILDATHON 2026 · GRAND FINALE</a:t>
            </a:r>
            <a:endParaRPr lang="en-US" sz="2000" dirty="0"/>
          </a:p>
        </p:txBody>
      </p:sp>
      <p:sp>
        <p:nvSpPr>
          <p:cNvPr id="3" name="Text 0"/>
          <p:cNvSpPr/>
          <p:nvPr>
            <p:ph idx="101" type="title" hasCustomPrompt="1"/>
          </p:nvPr>
        </p:nvSpPr>
        <p:spPr>
          <a:xfrm>
            <a:off x="548640" y="1463040"/>
            <a:ext cx="11094415" cy="1234440"/>
          </a:xfrm>
          <a:prstGeom prst="rect">
            <a:avLst/>
          </a:prstGeom>
          <a:noFill/>
          <a:ln/>
        </p:spPr>
        <p:txBody>
          <a:bodyPr wrap="square" lIns="0" tIns="0" rIns="0" bIns="0" rtlCol="0" anchor="t"/>
          <a:lstStyle/>
          <a:p>
            <a:pPr algn="l" indent="0" marL="0">
              <a:buNone/>
            </a:pPr>
            <a:r>
              <a:rPr lang="en-US" sz="7200" b="1" dirty="0">
                <a:solidFill>
                  <a:schemeClr val="bg1"/>
                </a:solidFill>
              </a:rPr>
              <a:t>Pod 12</a:t>
            </a:r>
            <a:endParaRPr lang="en-US" sz="7200" dirty="0"/>
          </a:p>
        </p:txBody>
      </p:sp>
      <p:sp>
        <p:nvSpPr>
          <p:cNvPr id="4" name="Text 0"/>
          <p:cNvSpPr/>
          <p:nvPr>
            <p:ph idx="102" type="body" hasCustomPrompt="1"/>
          </p:nvPr>
        </p:nvSpPr>
        <p:spPr>
          <a:xfrm>
            <a:off x="548640" y="2743200"/>
            <a:ext cx="11094415" cy="685800"/>
          </a:xfrm>
          <a:prstGeom prst="rect">
            <a:avLst/>
          </a:prstGeom>
          <a:noFill/>
          <a:ln/>
        </p:spPr>
        <p:txBody>
          <a:bodyPr wrap="square" lIns="0" tIns="0" rIns="0" bIns="0" rtlCol="0" anchor="t"/>
          <a:lstStyle/>
          <a:p>
            <a:pPr algn="l" indent="0" marL="0">
              <a:buNone/>
            </a:pPr>
            <a:r>
              <a:rPr lang="en-US" sz="3200" dirty="0">
                <a:solidFill>
                  <a:schemeClr val="bg1"/>
                </a:solidFill>
              </a:rPr>
              <a:t>Five agents. One unit. One evidence trail.</a:t>
            </a:r>
            <a:endParaRPr lang="en-US" sz="3200" dirty="0"/>
          </a:p>
        </p:txBody>
      </p:sp>
      <p:sp>
        <p:nvSpPr>
          <p:cNvPr id="5" name="team-names-1"/>
          <p:cNvSpPr txBox="1"/>
          <p:nvPr/>
        </p:nvSpPr>
        <p:spPr>
          <a:xfrm>
            <a:off x="548640" y="3657600"/>
            <a:ext cx="11094415" cy="411480"/>
          </a:xfrm>
          <a:prstGeom prst="rect">
            <a:avLst/>
          </a:prstGeom>
          <a:noFill/>
          <a:ln/>
        </p:spPr>
        <p:txBody>
          <a:bodyPr wrap="square" lIns="0" tIns="0" rIns="0" bIns="0" rtlCol="0" anchor="t"/>
          <a:lstStyle/>
          <a:p>
            <a:pPr algn="l" indent="0" marL="0">
              <a:buNone/>
            </a:pPr>
            <a:r>
              <a:rPr lang="en-US" sz="2400" dirty="0">
                <a:solidFill>
                  <a:schemeClr val="accent5"/>
                </a:solidFill>
              </a:rPr>
              <a:t>&lt;Team member names&gt;</a:t>
            </a:r>
            <a:endParaRPr lang="en-US" sz="2400" dirty="0"/>
          </a:p>
        </p:txBody>
      </p:sp>
      <p:sp>
        <p:nvSpPr>
          <p:cNvPr id="6" name="date-venue-2"/>
          <p:cNvSpPr txBox="1"/>
          <p:nvPr/>
        </p:nvSpPr>
        <p:spPr>
          <a:xfrm>
            <a:off x="548640" y="4114800"/>
            <a:ext cx="11094415" cy="411480"/>
          </a:xfrm>
          <a:prstGeom prst="rect">
            <a:avLst/>
          </a:prstGeom>
          <a:noFill/>
          <a:ln/>
        </p:spPr>
        <p:txBody>
          <a:bodyPr wrap="square" lIns="0" tIns="0" rIns="0" bIns="0" rtlCol="0" anchor="t"/>
          <a:lstStyle/>
          <a:p>
            <a:pPr algn="l" indent="0" marL="0">
              <a:buNone/>
            </a:pPr>
            <a:r>
              <a:rPr lang="en-US" sz="2200" dirty="0">
                <a:solidFill>
                  <a:schemeClr val="accent5"/>
                </a:solidFill>
              </a:rPr>
              <a:t>10 October 2026 · Thoughtworks Hyderabad</a:t>
            </a:r>
            <a:endParaRPr lang="en-US" sz="2200" dirty="0"/>
          </a:p>
        </p:txBody>
      </p:sp>
      <p:sp>
        <p:nvSpPr>
          <p:cNvPr id="7" name="line-3"/>
          <p:cNvSpPr/>
          <p:nvPr/>
        </p:nvSpPr>
        <p:spPr>
          <a:xfrm>
            <a:off x="1325880" y="5349240"/>
            <a:ext cx="9445752" cy="0"/>
          </a:xfrm>
          <a:prstGeom prst="line">
            <a:avLst/>
          </a:prstGeom>
          <a:noFill/>
          <a:ln w="38100">
            <a:solidFill>
              <a:schemeClr val="accent2"/>
            </a:solidFill>
            <a:prstDash val="solid"/>
          </a:ln>
        </p:spPr>
      </p:sp>
      <p:sp>
        <p:nvSpPr>
          <p:cNvPr id="8" name="chip-4"/>
          <p:cNvSpPr txBox="1"/>
          <p:nvPr/>
        </p:nvSpPr>
        <p:spPr>
          <a:xfrm>
            <a:off x="1042416" y="5065776"/>
            <a:ext cx="566928" cy="566928"/>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1</a:t>
            </a:r>
            <a:endParaRPr lang="en-US" sz="2200" dirty="0"/>
          </a:p>
        </p:txBody>
      </p:sp>
      <p:sp>
        <p:nvSpPr>
          <p:cNvPr id="9" name="station-label-5"/>
          <p:cNvSpPr txBox="1"/>
          <p:nvPr/>
        </p:nvSpPr>
        <p:spPr>
          <a:xfrm>
            <a:off x="320040" y="5733288"/>
            <a:ext cx="2011680" cy="365760"/>
          </a:xfrm>
          <a:prstGeom prst="rect">
            <a:avLst/>
          </a:prstGeom>
          <a:noFill/>
          <a:ln/>
        </p:spPr>
        <p:txBody>
          <a:bodyPr wrap="square" lIns="0" tIns="0" rIns="0" bIns="0" rtlCol="0" anchor="t"/>
          <a:lstStyle/>
          <a:p>
            <a:pPr algn="ctr" indent="0" marL="0">
              <a:buNone/>
            </a:pPr>
            <a:r>
              <a:rPr lang="en-US" sz="2000" b="1" dirty="0">
                <a:solidFill>
                  <a:schemeClr val="bg1"/>
                </a:solidFill>
              </a:rPr>
              <a:t>Receiving</a:t>
            </a:r>
            <a:endParaRPr lang="en-US" sz="2000" dirty="0"/>
          </a:p>
        </p:txBody>
      </p:sp>
      <p:sp>
        <p:nvSpPr>
          <p:cNvPr id="10" name="chip-6"/>
          <p:cNvSpPr txBox="1"/>
          <p:nvPr/>
        </p:nvSpPr>
        <p:spPr>
          <a:xfrm>
            <a:off x="3401568" y="5065776"/>
            <a:ext cx="566928" cy="566928"/>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2</a:t>
            </a:r>
            <a:endParaRPr lang="en-US" sz="2200" dirty="0"/>
          </a:p>
        </p:txBody>
      </p:sp>
      <p:sp>
        <p:nvSpPr>
          <p:cNvPr id="11" name="station-label-7"/>
          <p:cNvSpPr txBox="1"/>
          <p:nvPr/>
        </p:nvSpPr>
        <p:spPr>
          <a:xfrm>
            <a:off x="2679192" y="5733288"/>
            <a:ext cx="2011680" cy="365760"/>
          </a:xfrm>
          <a:prstGeom prst="rect">
            <a:avLst/>
          </a:prstGeom>
          <a:noFill/>
          <a:ln/>
        </p:spPr>
        <p:txBody>
          <a:bodyPr wrap="square" lIns="0" tIns="0" rIns="0" bIns="0" rtlCol="0" anchor="t"/>
          <a:lstStyle/>
          <a:p>
            <a:pPr algn="ctr" indent="0" marL="0">
              <a:buNone/>
            </a:pPr>
            <a:r>
              <a:rPr lang="en-US" sz="2000" b="1" dirty="0">
                <a:solidFill>
                  <a:schemeClr val="bg1"/>
                </a:solidFill>
              </a:rPr>
              <a:t>Prep</a:t>
            </a:r>
            <a:endParaRPr lang="en-US" sz="2000" dirty="0"/>
          </a:p>
        </p:txBody>
      </p:sp>
      <p:sp>
        <p:nvSpPr>
          <p:cNvPr id="12" name="chip-8"/>
          <p:cNvSpPr txBox="1"/>
          <p:nvPr/>
        </p:nvSpPr>
        <p:spPr>
          <a:xfrm>
            <a:off x="5769864" y="5065776"/>
            <a:ext cx="566928" cy="566928"/>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3</a:t>
            </a:r>
            <a:endParaRPr lang="en-US" sz="2200" dirty="0"/>
          </a:p>
        </p:txBody>
      </p:sp>
      <p:sp>
        <p:nvSpPr>
          <p:cNvPr id="13" name="station-label-9"/>
          <p:cNvSpPr txBox="1"/>
          <p:nvPr/>
        </p:nvSpPr>
        <p:spPr>
          <a:xfrm>
            <a:off x="5047488" y="5733288"/>
            <a:ext cx="2011680" cy="365760"/>
          </a:xfrm>
          <a:prstGeom prst="rect">
            <a:avLst/>
          </a:prstGeom>
          <a:noFill/>
          <a:ln/>
        </p:spPr>
        <p:txBody>
          <a:bodyPr wrap="square" lIns="0" tIns="0" rIns="0" bIns="0" rtlCol="0" anchor="t"/>
          <a:lstStyle/>
          <a:p>
            <a:pPr algn="ctr" indent="0" marL="0">
              <a:buNone/>
            </a:pPr>
            <a:r>
              <a:rPr lang="en-US" sz="2000" b="1" dirty="0">
                <a:solidFill>
                  <a:schemeClr val="bg1"/>
                </a:solidFill>
              </a:rPr>
              <a:t>Pack</a:t>
            </a:r>
            <a:endParaRPr lang="en-US" sz="2000" dirty="0"/>
          </a:p>
        </p:txBody>
      </p:sp>
      <p:sp>
        <p:nvSpPr>
          <p:cNvPr id="14" name="chip-10"/>
          <p:cNvSpPr txBox="1"/>
          <p:nvPr/>
        </p:nvSpPr>
        <p:spPr>
          <a:xfrm>
            <a:off x="8129016" y="5065776"/>
            <a:ext cx="566928" cy="566928"/>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4</a:t>
            </a:r>
            <a:endParaRPr lang="en-US" sz="2200" dirty="0"/>
          </a:p>
        </p:txBody>
      </p:sp>
      <p:sp>
        <p:nvSpPr>
          <p:cNvPr id="15" name="station-label-11"/>
          <p:cNvSpPr txBox="1"/>
          <p:nvPr/>
        </p:nvSpPr>
        <p:spPr>
          <a:xfrm>
            <a:off x="7406640" y="5733288"/>
            <a:ext cx="2011680" cy="365760"/>
          </a:xfrm>
          <a:prstGeom prst="rect">
            <a:avLst/>
          </a:prstGeom>
          <a:noFill/>
          <a:ln/>
        </p:spPr>
        <p:txBody>
          <a:bodyPr wrap="square" lIns="0" tIns="0" rIns="0" bIns="0" rtlCol="0" anchor="t"/>
          <a:lstStyle/>
          <a:p>
            <a:pPr algn="ctr" indent="0" marL="0">
              <a:buNone/>
            </a:pPr>
            <a:r>
              <a:rPr lang="en-US" sz="2000" b="1" dirty="0">
                <a:solidFill>
                  <a:schemeClr val="bg1"/>
                </a:solidFill>
              </a:rPr>
              <a:t>Returns</a:t>
            </a:r>
            <a:endParaRPr lang="en-US" sz="2000" dirty="0"/>
          </a:p>
        </p:txBody>
      </p:sp>
      <p:sp>
        <p:nvSpPr>
          <p:cNvPr id="16" name="chip-12"/>
          <p:cNvSpPr txBox="1"/>
          <p:nvPr/>
        </p:nvSpPr>
        <p:spPr>
          <a:xfrm>
            <a:off x="10488168" y="5065776"/>
            <a:ext cx="566928" cy="566928"/>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5</a:t>
            </a:r>
            <a:endParaRPr lang="en-US" sz="2200" dirty="0"/>
          </a:p>
        </p:txBody>
      </p:sp>
      <p:sp>
        <p:nvSpPr>
          <p:cNvPr id="17" name="station-label-13"/>
          <p:cNvSpPr txBox="1"/>
          <p:nvPr/>
        </p:nvSpPr>
        <p:spPr>
          <a:xfrm>
            <a:off x="9765792" y="5733288"/>
            <a:ext cx="2011680" cy="365760"/>
          </a:xfrm>
          <a:prstGeom prst="rect">
            <a:avLst/>
          </a:prstGeom>
          <a:noFill/>
          <a:ln/>
        </p:spPr>
        <p:txBody>
          <a:bodyPr wrap="square" lIns="0" tIns="0" rIns="0" bIns="0" rtlCol="0" anchor="t"/>
          <a:lstStyle/>
          <a:p>
            <a:pPr algn="ctr" indent="0" marL="0">
              <a:buNone/>
            </a:pPr>
            <a:r>
              <a:rPr lang="en-US" sz="2000" b="1" dirty="0">
                <a:solidFill>
                  <a:schemeClr val="bg1"/>
                </a:solidFill>
              </a:rPr>
              <a:t>Recovery</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65760"/>
          </a:xfrm>
          <a:prstGeom prst="rect">
            <a:avLst/>
          </a:prstGeom>
          <a:noFill/>
          <a:ln/>
        </p:spPr>
        <p:txBody>
          <a:bodyPr wrap="square" lIns="0" tIns="0" rIns="0" bIns="0" rtlCol="0" anchor="t"/>
          <a:lstStyle/>
          <a:p>
            <a:pPr algn="l" indent="0" marL="0">
              <a:buNone/>
            </a:pPr>
            <a:r>
              <a:rPr lang="en-US" sz="1600" b="1" dirty="0">
                <a:solidFill>
                  <a:schemeClr val="accent1"/>
                </a:solidFill>
              </a:rPr>
              <a:t>THE PROBLEM</a:t>
            </a:r>
            <a:endParaRPr lang="en-US" sz="1600" dirty="0"/>
          </a:p>
        </p:txBody>
      </p:sp>
      <p:sp>
        <p:nvSpPr>
          <p:cNvPr id="3" name="Text 0"/>
          <p:cNvSpPr/>
          <p:nvPr>
            <p:ph idx="101" type="title" hasCustomPrompt="1"/>
          </p:nvPr>
        </p:nvSpPr>
        <p:spPr>
          <a:xfrm>
            <a:off x="548640" y="713232"/>
            <a:ext cx="11094415" cy="777240"/>
          </a:xfrm>
          <a:prstGeom prst="rect">
            <a:avLst/>
          </a:prstGeom>
          <a:noFill/>
          <a:ln/>
        </p:spPr>
        <p:txBody>
          <a:bodyPr wrap="square" lIns="0" tIns="0" rIns="0" bIns="0" rtlCol="0" anchor="t"/>
          <a:lstStyle/>
          <a:p>
            <a:pPr algn="l" indent="0" marL="0">
              <a:buNone/>
            </a:pPr>
            <a:r>
              <a:rPr lang="en-US" sz="3800" b="1" dirty="0">
                <a:solidFill>
                  <a:schemeClr val="tx1"/>
                </a:solidFill>
              </a:rPr>
              <a:t>Five hand-offs, five ways to lose money</a:t>
            </a:r>
            <a:endParaRPr lang="en-US" sz="3800" dirty="0"/>
          </a:p>
        </p:txBody>
      </p:sp>
      <p:sp>
        <p:nvSpPr>
          <p:cNvPr id="4" name="problem-card-14"/>
          <p:cNvSpPr txBox="1"/>
          <p:nvPr/>
        </p:nvSpPr>
        <p:spPr>
          <a:xfrm>
            <a:off x="548640" y="1783080"/>
            <a:ext cx="2057400" cy="3337560"/>
          </a:xfrm>
          <a:prstGeom prst="roundRect">
            <a:avLst>
              <a:gd name="adj" fmla="val 4444"/>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5" name="chip-15"/>
          <p:cNvSpPr txBox="1"/>
          <p:nvPr/>
        </p:nvSpPr>
        <p:spPr>
          <a:xfrm>
            <a:off x="731520" y="1984248"/>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1</a:t>
            </a:r>
            <a:endParaRPr lang="en-US" sz="2200" dirty="0"/>
          </a:p>
        </p:txBody>
      </p:sp>
      <p:sp>
        <p:nvSpPr>
          <p:cNvPr id="6" name="problem-stage-16"/>
          <p:cNvSpPr txBox="1"/>
          <p:nvPr/>
        </p:nvSpPr>
        <p:spPr>
          <a:xfrm>
            <a:off x="731520" y="2679192"/>
            <a:ext cx="1783080" cy="411480"/>
          </a:xfrm>
          <a:prstGeom prst="rect">
            <a:avLst/>
          </a:prstGeom>
          <a:noFill/>
          <a:ln/>
        </p:spPr>
        <p:txBody>
          <a:bodyPr wrap="square" lIns="0" tIns="0" rIns="0" bIns="0" rtlCol="0" anchor="t"/>
          <a:lstStyle/>
          <a:p>
            <a:pPr algn="l" indent="0" marL="0">
              <a:buNone/>
            </a:pPr>
            <a:r>
              <a:rPr lang="en-US" sz="2200" b="1" dirty="0">
                <a:solidFill>
                  <a:schemeClr val="tx1"/>
                </a:solidFill>
                <a:latin typeface="+mj-lt" pitchFamily="34" charset="0"/>
                <a:ea typeface="+mj-lt" pitchFamily="34" charset="-122"/>
                <a:cs typeface="+mj-lt" pitchFamily="34" charset="-120"/>
              </a:rPr>
              <a:t>Receiving</a:t>
            </a:r>
            <a:endParaRPr lang="en-US" sz="2200" dirty="0"/>
          </a:p>
        </p:txBody>
      </p:sp>
      <p:sp>
        <p:nvSpPr>
          <p:cNvPr id="7" name="problem-question-17"/>
          <p:cNvSpPr txBox="1"/>
          <p:nvPr/>
        </p:nvSpPr>
        <p:spPr>
          <a:xfrm>
            <a:off x="731520" y="3136392"/>
            <a:ext cx="1737360" cy="731520"/>
          </a:xfrm>
          <a:prstGeom prst="rect">
            <a:avLst/>
          </a:prstGeom>
          <a:noFill/>
          <a:ln/>
        </p:spPr>
        <p:txBody>
          <a:bodyPr wrap="square" lIns="0" tIns="0" rIns="0" bIns="0" rtlCol="0" anchor="t"/>
          <a:lstStyle/>
          <a:p>
            <a:pPr algn="l" indent="0" marL="0">
              <a:buNone/>
            </a:pPr>
            <a:r>
              <a:rPr lang="en-US" sz="2000" dirty="0">
                <a:solidFill>
                  <a:schemeClr val="tx1"/>
                </a:solidFill>
              </a:rPr>
              <a:t>Right goods, right count?</a:t>
            </a:r>
            <a:endParaRPr lang="en-US" sz="2000" dirty="0"/>
          </a:p>
        </p:txBody>
      </p:sp>
      <p:sp>
        <p:nvSpPr>
          <p:cNvPr id="8" name="problem-cost-18"/>
          <p:cNvSpPr txBox="1"/>
          <p:nvPr/>
        </p:nvSpPr>
        <p:spPr>
          <a:xfrm>
            <a:off x="658368" y="3959352"/>
            <a:ext cx="1837944" cy="1024128"/>
          </a:xfrm>
          <a:prstGeom prst="roundRect">
            <a:avLst>
              <a:gd name="adj" fmla="val 8929"/>
            </a:avLst>
          </a:prstGeom>
          <a:solidFill>
            <a:schemeClr val="accent3"/>
          </a:solidFill>
          <a:ln>
            <a:solidFill>
              <a:schemeClr val="accent3"/>
            </a:solidFill>
          </a:ln>
        </p:spPr>
        <p:txBody>
          <a:bodyPr wrap="square" lIns="101600" tIns="50800" rIns="76200" bIns="50800" rtlCol="0" anchor="ctr"/>
          <a:lstStyle/>
          <a:p>
            <a:pPr algn="l" indent="0" marL="0">
              <a:buNone/>
            </a:pPr>
            <a:r>
              <a:rPr lang="en-US" sz="1800" b="1" dirty="0">
                <a:solidFill>
                  <a:schemeClr val="accent1"/>
                </a:solidFill>
              </a:rPr>
              <a:t>Last chance for a supplier claim</a:t>
            </a:r>
            <a:endParaRPr lang="en-US" sz="1800" dirty="0"/>
          </a:p>
        </p:txBody>
      </p:sp>
      <p:sp>
        <p:nvSpPr>
          <p:cNvPr id="9" name="problem-card-19"/>
          <p:cNvSpPr txBox="1"/>
          <p:nvPr/>
        </p:nvSpPr>
        <p:spPr>
          <a:xfrm>
            <a:off x="2807208" y="1783080"/>
            <a:ext cx="2057400" cy="3337560"/>
          </a:xfrm>
          <a:prstGeom prst="roundRect">
            <a:avLst>
              <a:gd name="adj" fmla="val 4444"/>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10" name="chip-20"/>
          <p:cNvSpPr txBox="1"/>
          <p:nvPr/>
        </p:nvSpPr>
        <p:spPr>
          <a:xfrm>
            <a:off x="2990088" y="1984248"/>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2</a:t>
            </a:r>
            <a:endParaRPr lang="en-US" sz="2200" dirty="0"/>
          </a:p>
        </p:txBody>
      </p:sp>
      <p:sp>
        <p:nvSpPr>
          <p:cNvPr id="11" name="problem-stage-21"/>
          <p:cNvSpPr txBox="1"/>
          <p:nvPr/>
        </p:nvSpPr>
        <p:spPr>
          <a:xfrm>
            <a:off x="2990088" y="2679192"/>
            <a:ext cx="1783080" cy="411480"/>
          </a:xfrm>
          <a:prstGeom prst="rect">
            <a:avLst/>
          </a:prstGeom>
          <a:noFill/>
          <a:ln/>
        </p:spPr>
        <p:txBody>
          <a:bodyPr wrap="square" lIns="0" tIns="0" rIns="0" bIns="0" rtlCol="0" anchor="t"/>
          <a:lstStyle/>
          <a:p>
            <a:pPr algn="l" indent="0" marL="0">
              <a:buNone/>
            </a:pPr>
            <a:r>
              <a:rPr lang="en-US" sz="2200" b="1" dirty="0">
                <a:solidFill>
                  <a:schemeClr val="tx1"/>
                </a:solidFill>
                <a:latin typeface="+mj-lt" pitchFamily="34" charset="0"/>
                <a:ea typeface="+mj-lt" pitchFamily="34" charset="-122"/>
                <a:cs typeface="+mj-lt" pitchFamily="34" charset="-120"/>
              </a:rPr>
              <a:t>Prep</a:t>
            </a:r>
            <a:endParaRPr lang="en-US" sz="2200" dirty="0"/>
          </a:p>
        </p:txBody>
      </p:sp>
      <p:sp>
        <p:nvSpPr>
          <p:cNvPr id="12" name="problem-question-22"/>
          <p:cNvSpPr txBox="1"/>
          <p:nvPr/>
        </p:nvSpPr>
        <p:spPr>
          <a:xfrm>
            <a:off x="2990088" y="3136392"/>
            <a:ext cx="1737360" cy="731520"/>
          </a:xfrm>
          <a:prstGeom prst="rect">
            <a:avLst/>
          </a:prstGeom>
          <a:noFill/>
          <a:ln/>
        </p:spPr>
        <p:txBody>
          <a:bodyPr wrap="square" lIns="0" tIns="0" rIns="0" bIns="0" rtlCol="0" anchor="t"/>
          <a:lstStyle/>
          <a:p>
            <a:pPr algn="l" indent="0" marL="0">
              <a:buNone/>
            </a:pPr>
            <a:r>
              <a:rPr lang="en-US" sz="2000" dirty="0">
                <a:solidFill>
                  <a:schemeClr val="tx1"/>
                </a:solidFill>
              </a:rPr>
              <a:t>Prepped to the work order?</a:t>
            </a:r>
            <a:endParaRPr lang="en-US" sz="2000" dirty="0"/>
          </a:p>
        </p:txBody>
      </p:sp>
      <p:sp>
        <p:nvSpPr>
          <p:cNvPr id="13" name="problem-cost-23"/>
          <p:cNvSpPr txBox="1"/>
          <p:nvPr/>
        </p:nvSpPr>
        <p:spPr>
          <a:xfrm>
            <a:off x="2916936" y="3959352"/>
            <a:ext cx="1837944" cy="1024128"/>
          </a:xfrm>
          <a:prstGeom prst="roundRect">
            <a:avLst>
              <a:gd name="adj" fmla="val 8929"/>
            </a:avLst>
          </a:prstGeom>
          <a:solidFill>
            <a:schemeClr val="accent3"/>
          </a:solidFill>
          <a:ln>
            <a:solidFill>
              <a:schemeClr val="accent3"/>
            </a:solidFill>
          </a:ln>
        </p:spPr>
        <p:txBody>
          <a:bodyPr wrap="square" lIns="101600" tIns="50800" rIns="76200" bIns="50800" rtlCol="0" anchor="ctr"/>
          <a:lstStyle/>
          <a:p>
            <a:pPr algn="l" indent="0" marL="0">
              <a:buNone/>
            </a:pPr>
            <a:r>
              <a:rPr lang="en-US" sz="1800" b="1" dirty="0">
                <a:solidFill>
                  <a:schemeClr val="accent1"/>
                </a:solidFill>
              </a:rPr>
              <a:t>Inbound defect fees</a:t>
            </a:r>
            <a:endParaRPr lang="en-US" sz="1800" dirty="0"/>
          </a:p>
        </p:txBody>
      </p:sp>
      <p:sp>
        <p:nvSpPr>
          <p:cNvPr id="14" name="problem-card-24"/>
          <p:cNvSpPr txBox="1"/>
          <p:nvPr/>
        </p:nvSpPr>
        <p:spPr>
          <a:xfrm>
            <a:off x="5065776" y="1783080"/>
            <a:ext cx="2057400" cy="3337560"/>
          </a:xfrm>
          <a:prstGeom prst="roundRect">
            <a:avLst>
              <a:gd name="adj" fmla="val 4444"/>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15" name="chip-25"/>
          <p:cNvSpPr txBox="1"/>
          <p:nvPr/>
        </p:nvSpPr>
        <p:spPr>
          <a:xfrm>
            <a:off x="5248656" y="1984248"/>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3</a:t>
            </a:r>
            <a:endParaRPr lang="en-US" sz="2200" dirty="0"/>
          </a:p>
        </p:txBody>
      </p:sp>
      <p:sp>
        <p:nvSpPr>
          <p:cNvPr id="16" name="problem-stage-26"/>
          <p:cNvSpPr txBox="1"/>
          <p:nvPr/>
        </p:nvSpPr>
        <p:spPr>
          <a:xfrm>
            <a:off x="5248656" y="2679192"/>
            <a:ext cx="1783080" cy="411480"/>
          </a:xfrm>
          <a:prstGeom prst="rect">
            <a:avLst/>
          </a:prstGeom>
          <a:noFill/>
          <a:ln/>
        </p:spPr>
        <p:txBody>
          <a:bodyPr wrap="square" lIns="0" tIns="0" rIns="0" bIns="0" rtlCol="0" anchor="t"/>
          <a:lstStyle/>
          <a:p>
            <a:pPr algn="l" indent="0" marL="0">
              <a:buNone/>
            </a:pPr>
            <a:r>
              <a:rPr lang="en-US" sz="2200" b="1" dirty="0">
                <a:solidFill>
                  <a:schemeClr val="tx1"/>
                </a:solidFill>
                <a:latin typeface="+mj-lt" pitchFamily="34" charset="0"/>
                <a:ea typeface="+mj-lt" pitchFamily="34" charset="-122"/>
                <a:cs typeface="+mj-lt" pitchFamily="34" charset="-120"/>
              </a:rPr>
              <a:t>Pack</a:t>
            </a:r>
            <a:endParaRPr lang="en-US" sz="2200" dirty="0"/>
          </a:p>
        </p:txBody>
      </p:sp>
      <p:sp>
        <p:nvSpPr>
          <p:cNvPr id="17" name="problem-question-27"/>
          <p:cNvSpPr txBox="1"/>
          <p:nvPr/>
        </p:nvSpPr>
        <p:spPr>
          <a:xfrm>
            <a:off x="5248656" y="3136392"/>
            <a:ext cx="1737360" cy="731520"/>
          </a:xfrm>
          <a:prstGeom prst="rect">
            <a:avLst/>
          </a:prstGeom>
          <a:noFill/>
          <a:ln/>
        </p:spPr>
        <p:txBody>
          <a:bodyPr wrap="square" lIns="0" tIns="0" rIns="0" bIns="0" rtlCol="0" anchor="t"/>
          <a:lstStyle/>
          <a:p>
            <a:pPr algn="l" indent="0" marL="0">
              <a:buNone/>
            </a:pPr>
            <a:r>
              <a:rPr lang="en-US" sz="2000" dirty="0">
                <a:solidFill>
                  <a:schemeClr val="tx1"/>
                </a:solidFill>
              </a:rPr>
              <a:t>Right items in the box?</a:t>
            </a:r>
            <a:endParaRPr lang="en-US" sz="2000" dirty="0"/>
          </a:p>
        </p:txBody>
      </p:sp>
      <p:sp>
        <p:nvSpPr>
          <p:cNvPr id="18" name="problem-cost-28"/>
          <p:cNvSpPr txBox="1"/>
          <p:nvPr/>
        </p:nvSpPr>
        <p:spPr>
          <a:xfrm>
            <a:off x="5175504" y="3959352"/>
            <a:ext cx="1837944" cy="1024128"/>
          </a:xfrm>
          <a:prstGeom prst="roundRect">
            <a:avLst>
              <a:gd name="adj" fmla="val 8929"/>
            </a:avLst>
          </a:prstGeom>
          <a:solidFill>
            <a:schemeClr val="accent3"/>
          </a:solidFill>
          <a:ln>
            <a:solidFill>
              <a:schemeClr val="accent3"/>
            </a:solidFill>
          </a:ln>
        </p:spPr>
        <p:txBody>
          <a:bodyPr wrap="square" lIns="101600" tIns="50800" rIns="76200" bIns="50800" rtlCol="0" anchor="ctr"/>
          <a:lstStyle/>
          <a:p>
            <a:pPr algn="l" indent="0" marL="0">
              <a:buNone/>
            </a:pPr>
            <a:r>
              <a:rPr lang="en-US" sz="1800" b="1" dirty="0">
                <a:solidFill>
                  <a:schemeClr val="accent1"/>
                </a:solidFill>
              </a:rPr>
              <a:t>A wrong box gets sealed</a:t>
            </a:r>
            <a:endParaRPr lang="en-US" sz="1800" dirty="0"/>
          </a:p>
        </p:txBody>
      </p:sp>
      <p:sp>
        <p:nvSpPr>
          <p:cNvPr id="19" name="problem-card-29"/>
          <p:cNvSpPr txBox="1"/>
          <p:nvPr/>
        </p:nvSpPr>
        <p:spPr>
          <a:xfrm>
            <a:off x="7324344" y="1783080"/>
            <a:ext cx="2057400" cy="3337560"/>
          </a:xfrm>
          <a:prstGeom prst="roundRect">
            <a:avLst>
              <a:gd name="adj" fmla="val 4444"/>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20" name="chip-30"/>
          <p:cNvSpPr txBox="1"/>
          <p:nvPr/>
        </p:nvSpPr>
        <p:spPr>
          <a:xfrm>
            <a:off x="7507224" y="1984248"/>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4</a:t>
            </a:r>
            <a:endParaRPr lang="en-US" sz="2200" dirty="0"/>
          </a:p>
        </p:txBody>
      </p:sp>
      <p:sp>
        <p:nvSpPr>
          <p:cNvPr id="21" name="problem-stage-31"/>
          <p:cNvSpPr txBox="1"/>
          <p:nvPr/>
        </p:nvSpPr>
        <p:spPr>
          <a:xfrm>
            <a:off x="7507224" y="2679192"/>
            <a:ext cx="1783080" cy="411480"/>
          </a:xfrm>
          <a:prstGeom prst="rect">
            <a:avLst/>
          </a:prstGeom>
          <a:noFill/>
          <a:ln/>
        </p:spPr>
        <p:txBody>
          <a:bodyPr wrap="square" lIns="0" tIns="0" rIns="0" bIns="0" rtlCol="0" anchor="t"/>
          <a:lstStyle/>
          <a:p>
            <a:pPr algn="l" indent="0" marL="0">
              <a:buNone/>
            </a:pPr>
            <a:r>
              <a:rPr lang="en-US" sz="2200" b="1" dirty="0">
                <a:solidFill>
                  <a:schemeClr val="tx1"/>
                </a:solidFill>
                <a:latin typeface="+mj-lt" pitchFamily="34" charset="0"/>
                <a:ea typeface="+mj-lt" pitchFamily="34" charset="-122"/>
                <a:cs typeface="+mj-lt" pitchFamily="34" charset="-120"/>
              </a:rPr>
              <a:t>Returns</a:t>
            </a:r>
            <a:endParaRPr lang="en-US" sz="2200" dirty="0"/>
          </a:p>
        </p:txBody>
      </p:sp>
      <p:sp>
        <p:nvSpPr>
          <p:cNvPr id="22" name="problem-question-32"/>
          <p:cNvSpPr txBox="1"/>
          <p:nvPr/>
        </p:nvSpPr>
        <p:spPr>
          <a:xfrm>
            <a:off x="7507224" y="3136392"/>
            <a:ext cx="1737360" cy="731520"/>
          </a:xfrm>
          <a:prstGeom prst="rect">
            <a:avLst/>
          </a:prstGeom>
          <a:noFill/>
          <a:ln/>
        </p:spPr>
        <p:txBody>
          <a:bodyPr wrap="square" lIns="0" tIns="0" rIns="0" bIns="0" rtlCol="0" anchor="t"/>
          <a:lstStyle/>
          <a:p>
            <a:pPr algn="l" indent="0" marL="0">
              <a:buNone/>
            </a:pPr>
            <a:r>
              <a:rPr lang="en-US" sz="2000" dirty="0">
                <a:solidFill>
                  <a:schemeClr val="tx1"/>
                </a:solidFill>
              </a:rPr>
              <a:t>What came back?</a:t>
            </a:r>
            <a:endParaRPr lang="en-US" sz="2000" dirty="0"/>
          </a:p>
        </p:txBody>
      </p:sp>
      <p:sp>
        <p:nvSpPr>
          <p:cNvPr id="23" name="problem-cost-33"/>
          <p:cNvSpPr txBox="1"/>
          <p:nvPr/>
        </p:nvSpPr>
        <p:spPr>
          <a:xfrm>
            <a:off x="7434072" y="3959352"/>
            <a:ext cx="1837944" cy="1024128"/>
          </a:xfrm>
          <a:prstGeom prst="roundRect">
            <a:avLst>
              <a:gd name="adj" fmla="val 8929"/>
            </a:avLst>
          </a:prstGeom>
          <a:solidFill>
            <a:schemeClr val="accent3"/>
          </a:solidFill>
          <a:ln>
            <a:solidFill>
              <a:schemeClr val="accent3"/>
            </a:solidFill>
          </a:ln>
        </p:spPr>
        <p:txBody>
          <a:bodyPr wrap="square" lIns="101600" tIns="50800" rIns="76200" bIns="50800" rtlCol="0" anchor="ctr"/>
          <a:lstStyle/>
          <a:p>
            <a:pPr algn="l" indent="0" marL="0">
              <a:buNone/>
            </a:pPr>
            <a:r>
              <a:rPr lang="en-US" sz="1800" b="1" dirty="0">
                <a:solidFill>
                  <a:schemeClr val="accent1"/>
                </a:solidFill>
              </a:rPr>
              <a:t>Four routes, from restock to dispose</a:t>
            </a:r>
            <a:endParaRPr lang="en-US" sz="1800" dirty="0"/>
          </a:p>
        </p:txBody>
      </p:sp>
      <p:sp>
        <p:nvSpPr>
          <p:cNvPr id="24" name="problem-card-34"/>
          <p:cNvSpPr txBox="1"/>
          <p:nvPr/>
        </p:nvSpPr>
        <p:spPr>
          <a:xfrm>
            <a:off x="9582912" y="1783080"/>
            <a:ext cx="2057400" cy="3337560"/>
          </a:xfrm>
          <a:prstGeom prst="roundRect">
            <a:avLst>
              <a:gd name="adj" fmla="val 4444"/>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25" name="chip-35"/>
          <p:cNvSpPr txBox="1"/>
          <p:nvPr/>
        </p:nvSpPr>
        <p:spPr>
          <a:xfrm>
            <a:off x="9765792" y="1984248"/>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5</a:t>
            </a:r>
            <a:endParaRPr lang="en-US" sz="2200" dirty="0"/>
          </a:p>
        </p:txBody>
      </p:sp>
      <p:sp>
        <p:nvSpPr>
          <p:cNvPr id="26" name="problem-stage-36"/>
          <p:cNvSpPr txBox="1"/>
          <p:nvPr/>
        </p:nvSpPr>
        <p:spPr>
          <a:xfrm>
            <a:off x="9765792" y="2679192"/>
            <a:ext cx="1783080" cy="411480"/>
          </a:xfrm>
          <a:prstGeom prst="rect">
            <a:avLst/>
          </a:prstGeom>
          <a:noFill/>
          <a:ln/>
        </p:spPr>
        <p:txBody>
          <a:bodyPr wrap="square" lIns="0" tIns="0" rIns="0" bIns="0" rtlCol="0" anchor="t"/>
          <a:lstStyle/>
          <a:p>
            <a:pPr algn="l" indent="0" marL="0">
              <a:buNone/>
            </a:pPr>
            <a:r>
              <a:rPr lang="en-US" sz="2200" b="1" dirty="0">
                <a:solidFill>
                  <a:schemeClr val="tx1"/>
                </a:solidFill>
                <a:latin typeface="+mj-lt" pitchFamily="34" charset="0"/>
                <a:ea typeface="+mj-lt" pitchFamily="34" charset="-122"/>
                <a:cs typeface="+mj-lt" pitchFamily="34" charset="-120"/>
              </a:rPr>
              <a:t>Recovery</a:t>
            </a:r>
            <a:endParaRPr lang="en-US" sz="2200" dirty="0"/>
          </a:p>
        </p:txBody>
      </p:sp>
      <p:sp>
        <p:nvSpPr>
          <p:cNvPr id="27" name="problem-question-37"/>
          <p:cNvSpPr txBox="1"/>
          <p:nvPr/>
        </p:nvSpPr>
        <p:spPr>
          <a:xfrm>
            <a:off x="9765792" y="3136392"/>
            <a:ext cx="1737360" cy="731520"/>
          </a:xfrm>
          <a:prstGeom prst="rect">
            <a:avLst/>
          </a:prstGeom>
          <a:noFill/>
          <a:ln/>
        </p:spPr>
        <p:txBody>
          <a:bodyPr wrap="square" lIns="0" tIns="0" rIns="0" bIns="0" rtlCol="0" anchor="t"/>
          <a:lstStyle/>
          <a:p>
            <a:pPr algn="l" indent="0" marL="0">
              <a:buNone/>
            </a:pPr>
            <a:r>
              <a:rPr lang="en-US" sz="2000" dirty="0">
                <a:solidFill>
                  <a:schemeClr val="tx1"/>
                </a:solidFill>
              </a:rPr>
              <a:t>Was each fee fair?</a:t>
            </a:r>
            <a:endParaRPr lang="en-US" sz="2000" dirty="0"/>
          </a:p>
        </p:txBody>
      </p:sp>
      <p:sp>
        <p:nvSpPr>
          <p:cNvPr id="28" name="problem-cost-38"/>
          <p:cNvSpPr txBox="1"/>
          <p:nvPr/>
        </p:nvSpPr>
        <p:spPr>
          <a:xfrm>
            <a:off x="9692640" y="3959352"/>
            <a:ext cx="1837944" cy="1024128"/>
          </a:xfrm>
          <a:prstGeom prst="roundRect">
            <a:avLst>
              <a:gd name="adj" fmla="val 8929"/>
            </a:avLst>
          </a:prstGeom>
          <a:solidFill>
            <a:schemeClr val="accent3"/>
          </a:solidFill>
          <a:ln>
            <a:solidFill>
              <a:schemeClr val="accent3"/>
            </a:solidFill>
          </a:ln>
        </p:spPr>
        <p:txBody>
          <a:bodyPr wrap="square" lIns="101600" tIns="50800" rIns="76200" bIns="50800" rtlCol="0" anchor="ctr"/>
          <a:lstStyle/>
          <a:p>
            <a:pPr algn="l" indent="0" marL="0">
              <a:buNone/>
            </a:pPr>
            <a:r>
              <a:rPr lang="en-US" sz="1800" b="1" dirty="0">
                <a:solidFill>
                  <a:schemeClr val="accent1"/>
                </a:solidFill>
              </a:rPr>
              <a:t>Claim only what the evidence disproves</a:t>
            </a:r>
            <a:endParaRPr lang="en-US" sz="1800" dirty="0"/>
          </a:p>
        </p:txBody>
      </p:sp>
      <p:sp>
        <p:nvSpPr>
          <p:cNvPr id="29" name="problem-quote-39"/>
          <p:cNvSpPr txBox="1"/>
          <p:nvPr/>
        </p:nvSpPr>
        <p:spPr>
          <a:xfrm>
            <a:off x="548640" y="5394960"/>
            <a:ext cx="11094415" cy="749808"/>
          </a:xfrm>
          <a:prstGeom prst="roundRect">
            <a:avLst>
              <a:gd name="adj" fmla="val 12195"/>
            </a:avLst>
          </a:prstGeom>
          <a:solidFill>
            <a:schemeClr val="accent1"/>
          </a:solidFill>
          <a:ln>
            <a:solidFill>
              <a:schemeClr val="accent1"/>
            </a:solidFill>
          </a:ln>
        </p:spPr>
        <p:txBody>
          <a:bodyPr wrap="square" lIns="203200" tIns="50800" rIns="152400" bIns="50800" rtlCol="0" anchor="ctr"/>
          <a:lstStyle/>
          <a:p>
            <a:pPr algn="l" indent="0" marL="0">
              <a:buNone/>
            </a:pPr>
            <a:r>
              <a:rPr lang="en-US" sz="2400" b="1" i="1" dirty="0">
                <a:solidFill>
                  <a:schemeClr val="bg1"/>
                </a:solidFill>
              </a:rPr>
              <a:t>“A wrongly filed claim costs a seller standing; a missed one costs only money.”</a:t>
            </a:r>
            <a:endParaRPr lang="en-US" sz="2400" dirty="0"/>
          </a:p>
        </p:txBody>
      </p:sp>
      <p:sp>
        <p:nvSpPr>
          <p:cNvPr id="25" name="Slide Number Placeholder 0"/>
          <p:cNvSpPr>
            <a:spLocks noGrp="1"/>
          </p:cNvSpPr>
          <p:nvPr>
            <p:ph type="sldNum" sz="quarter" idx="4294967295"/>
          </p:nvPr>
        </p:nvSpPr>
        <p:spPr>
          <a:xfrm>
            <a:off x="11000232" y="638251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65760"/>
          </a:xfrm>
          <a:prstGeom prst="rect">
            <a:avLst/>
          </a:prstGeom>
          <a:noFill/>
          <a:ln/>
        </p:spPr>
        <p:txBody>
          <a:bodyPr wrap="square" lIns="0" tIns="0" rIns="0" bIns="0" rtlCol="0" anchor="t"/>
          <a:lstStyle/>
          <a:p>
            <a:pPr algn="l" indent="0" marL="0">
              <a:buNone/>
            </a:pPr>
            <a:r>
              <a:rPr lang="en-US" sz="1600" b="1" dirty="0">
                <a:solidFill>
                  <a:schemeClr val="accent1"/>
                </a:solidFill>
              </a:rPr>
              <a:t>END-TO-END INTEGRATION &amp; INTEROPERABILITY · 25</a:t>
            </a:r>
            <a:endParaRPr lang="en-US" sz="1600" dirty="0"/>
          </a:p>
        </p:txBody>
      </p:sp>
      <p:sp>
        <p:nvSpPr>
          <p:cNvPr id="3" name="Text 0"/>
          <p:cNvSpPr/>
          <p:nvPr>
            <p:ph idx="101" type="title" hasCustomPrompt="1"/>
          </p:nvPr>
        </p:nvSpPr>
        <p:spPr>
          <a:xfrm>
            <a:off x="548640" y="713232"/>
            <a:ext cx="11094415" cy="777240"/>
          </a:xfrm>
          <a:prstGeom prst="rect">
            <a:avLst/>
          </a:prstGeom>
          <a:noFill/>
          <a:ln/>
        </p:spPr>
        <p:txBody>
          <a:bodyPr wrap="square" lIns="0" tIns="0" rIns="0" bIns="0" rtlCol="0" anchor="t"/>
          <a:lstStyle/>
          <a:p>
            <a:pPr algn="l" indent="0" marL="0">
              <a:buNone/>
            </a:pPr>
            <a:r>
              <a:rPr lang="en-US" sz="3800" b="1" dirty="0">
                <a:solidFill>
                  <a:schemeClr val="tx1"/>
                </a:solidFill>
              </a:rPr>
              <a:t>One orchestrator, five agents, one store</a:t>
            </a:r>
            <a:endParaRPr lang="en-US" sz="3800" dirty="0"/>
          </a:p>
        </p:txBody>
      </p:sp>
      <p:sp>
        <p:nvSpPr>
          <p:cNvPr id="4" name="arch-phones-40"/>
          <p:cNvSpPr txBox="1"/>
          <p:nvPr/>
        </p:nvSpPr>
        <p:spPr>
          <a:xfrm>
            <a:off x="548640" y="1783080"/>
            <a:ext cx="2514600" cy="822960"/>
          </a:xfrm>
          <a:prstGeom prst="roundRect">
            <a:avLst>
              <a:gd name="adj" fmla="val 11111"/>
            </a:avLst>
          </a:prstGeom>
          <a:solidFill>
            <a:schemeClr val="bg2"/>
          </a:solidFill>
          <a:ln>
            <a:solidFill>
              <a:schemeClr val="bg2"/>
            </a:solidFill>
          </a:ln>
        </p:spPr>
        <p:txBody>
          <a:bodyPr wrap="square" lIns="127000" tIns="50800" rIns="101600" bIns="50800" rtlCol="0" anchor="ctr"/>
          <a:lstStyle/>
          <a:p>
            <a:pPr algn="l" indent="0" marL="0">
              <a:buNone/>
            </a:pPr>
            <a:r>
              <a:rPr lang="en-US" sz="2000" b="1" dirty="0">
                <a:solidFill>
                  <a:schemeClr val="tx1"/>
                </a:solidFill>
              </a:rPr>
              <a:t>Phone stations</a:t>
            </a:r>
            <a:endParaRPr lang="en-US" sz="2000" dirty="0"/>
          </a:p>
          <a:p>
            <a:pPr algn="l" indent="0" marL="0">
              <a:buNone/>
            </a:pPr>
            <a:r>
              <a:rPr lang="en-US" sz="1800" dirty="0">
                <a:solidFill>
                  <a:schemeClr val="tx2"/>
                </a:solidFill>
              </a:rPr>
              <a:t>one per teammate</a:t>
            </a:r>
            <a:endParaRPr lang="en-US" sz="2000" dirty="0"/>
          </a:p>
        </p:txBody>
      </p:sp>
      <p:sp>
        <p:nvSpPr>
          <p:cNvPr id="5" name="arch-console-41"/>
          <p:cNvSpPr txBox="1"/>
          <p:nvPr/>
        </p:nvSpPr>
        <p:spPr>
          <a:xfrm>
            <a:off x="548640" y="2788920"/>
            <a:ext cx="2514600" cy="822960"/>
          </a:xfrm>
          <a:prstGeom prst="roundRect">
            <a:avLst>
              <a:gd name="adj" fmla="val 11111"/>
            </a:avLst>
          </a:prstGeom>
          <a:solidFill>
            <a:schemeClr val="bg2"/>
          </a:solidFill>
          <a:ln>
            <a:solidFill>
              <a:schemeClr val="bg2"/>
            </a:solidFill>
          </a:ln>
        </p:spPr>
        <p:txBody>
          <a:bodyPr wrap="square" lIns="127000" tIns="50800" rIns="101600" bIns="50800" rtlCol="0" anchor="ctr"/>
          <a:lstStyle/>
          <a:p>
            <a:pPr algn="l" indent="0" marL="0">
              <a:buNone/>
            </a:pPr>
            <a:r>
              <a:rPr lang="en-US" sz="2000" b="1" dirty="0">
                <a:solidFill>
                  <a:schemeClr val="tx1"/>
                </a:solidFill>
              </a:rPr>
              <a:t>Admin console</a:t>
            </a:r>
            <a:endParaRPr lang="en-US" sz="2000" dirty="0"/>
          </a:p>
          <a:p>
            <a:pPr algn="l" indent="0" marL="0">
              <a:buNone/>
            </a:pPr>
            <a:r>
              <a:rPr lang="en-US" sz="1800" dirty="0">
                <a:solidFill>
                  <a:schemeClr val="tx2"/>
                </a:solidFill>
              </a:rPr>
              <a:t>login · review queue</a:t>
            </a:r>
            <a:endParaRPr lang="en-US" sz="2000" dirty="0"/>
          </a:p>
        </p:txBody>
      </p:sp>
      <p:sp>
        <p:nvSpPr>
          <p:cNvPr id="6" name="line-42"/>
          <p:cNvSpPr/>
          <p:nvPr/>
        </p:nvSpPr>
        <p:spPr>
          <a:xfrm>
            <a:off x="3063240" y="2194560"/>
            <a:ext cx="411480" cy="0"/>
          </a:xfrm>
          <a:prstGeom prst="line">
            <a:avLst/>
          </a:prstGeom>
          <a:noFill/>
          <a:ln w="25400">
            <a:solidFill>
              <a:schemeClr val="tx1"/>
            </a:solidFill>
            <a:prstDash val="solid"/>
            <a:tailEnd type="triangle"/>
          </a:ln>
        </p:spPr>
      </p:sp>
      <p:sp>
        <p:nvSpPr>
          <p:cNvPr id="7" name="line-43"/>
          <p:cNvSpPr/>
          <p:nvPr/>
        </p:nvSpPr>
        <p:spPr>
          <a:xfrm>
            <a:off x="3063240" y="3200400"/>
            <a:ext cx="411480" cy="0"/>
          </a:xfrm>
          <a:prstGeom prst="line">
            <a:avLst/>
          </a:prstGeom>
          <a:noFill/>
          <a:ln w="25400">
            <a:solidFill>
              <a:schemeClr val="tx1"/>
            </a:solidFill>
            <a:prstDash val="solid"/>
            <a:tailEnd type="triangle"/>
          </a:ln>
        </p:spPr>
      </p:sp>
      <p:sp>
        <p:nvSpPr>
          <p:cNvPr id="8" name="arch-orchestrator-44"/>
          <p:cNvSpPr txBox="1"/>
          <p:nvPr/>
        </p:nvSpPr>
        <p:spPr>
          <a:xfrm>
            <a:off x="3474720" y="1783080"/>
            <a:ext cx="4937760" cy="1828800"/>
          </a:xfrm>
          <a:prstGeom prst="roundRect">
            <a:avLst>
              <a:gd name="adj" fmla="val 5000"/>
            </a:avLst>
          </a:prstGeom>
          <a:solidFill>
            <a:schemeClr val="accent1"/>
          </a:solidFill>
          <a:ln>
            <a:solidFill>
              <a:schemeClr val="accent1"/>
            </a:solidFill>
          </a:ln>
        </p:spPr>
        <p:txBody>
          <a:bodyPr wrap="square" lIns="127000" tIns="76200" rIns="127000" bIns="76200" rtlCol="0" anchor="ctr"/>
          <a:lstStyle/>
          <a:p>
            <a:pPr algn="ctr" indent="0" marL="0">
              <a:buNone/>
            </a:pPr>
            <a:r>
              <a:rPr lang="en-US" sz="3000" b="1" dirty="0">
                <a:solidFill>
                  <a:schemeClr val="bg1"/>
                </a:solidFill>
                <a:latin typeface="+mj-lt" pitchFamily="34" charset="0"/>
                <a:ea typeface="+mj-lt" pitchFamily="34" charset="-122"/>
                <a:cs typeface="+mj-lt" pitchFamily="34" charset="-120"/>
              </a:rPr>
              <a:t>Orchestrator</a:t>
            </a:r>
            <a:endParaRPr lang="en-US" sz="2000" dirty="0"/>
          </a:p>
          <a:p>
            <a:pPr algn="ctr" indent="0" marL="0">
              <a:buNone/>
            </a:pPr>
            <a:r>
              <a:rPr lang="en-US" sz="2200" b="1" dirty="0">
                <a:solidFill>
                  <a:schemeClr val="bg1"/>
                </a:solidFill>
              </a:rPr>
              <a:t>owns workflow state</a:t>
            </a:r>
            <a:endParaRPr lang="en-US" sz="2000" dirty="0"/>
          </a:p>
          <a:p>
            <a:pPr algn="ctr" indent="0" marL="0">
              <a:buNone/>
            </a:pPr>
            <a:r>
              <a:rPr lang="en-US" sz="1800" dirty="0">
                <a:solidFill>
                  <a:schemeClr val="bg1"/>
                </a:solidFill>
              </a:rPr>
              <a:t>routes · validates · retries · derives the outcome</a:t>
            </a:r>
            <a:endParaRPr lang="en-US" sz="2000" dirty="0"/>
          </a:p>
        </p:txBody>
      </p:sp>
      <p:sp>
        <p:nvSpPr>
          <p:cNvPr id="9" name="line-45"/>
          <p:cNvSpPr/>
          <p:nvPr/>
        </p:nvSpPr>
        <p:spPr>
          <a:xfrm>
            <a:off x="8412480" y="2697480"/>
            <a:ext cx="411480" cy="0"/>
          </a:xfrm>
          <a:prstGeom prst="line">
            <a:avLst/>
          </a:prstGeom>
          <a:noFill/>
          <a:ln w="25400">
            <a:solidFill>
              <a:schemeClr val="tx1"/>
            </a:solidFill>
            <a:prstDash val="solid"/>
            <a:headEnd type="triangle"/>
            <a:tailEnd type="triangle"/>
          </a:ln>
        </p:spPr>
      </p:sp>
      <p:sp>
        <p:nvSpPr>
          <p:cNvPr id="10" name="arch-store-46"/>
          <p:cNvSpPr txBox="1"/>
          <p:nvPr/>
        </p:nvSpPr>
        <p:spPr>
          <a:xfrm>
            <a:off x="8823960" y="1783080"/>
            <a:ext cx="2819095" cy="1828800"/>
          </a:xfrm>
          <a:prstGeom prst="roundRect">
            <a:avLst>
              <a:gd name="adj" fmla="val 5000"/>
            </a:avLst>
          </a:prstGeom>
          <a:solidFill>
            <a:schemeClr val="bg1"/>
          </a:solidFill>
          <a:ln w="25400">
            <a:solidFill>
              <a:schemeClr val="tx1"/>
            </a:solidFill>
          </a:ln>
        </p:spPr>
        <p:txBody>
          <a:bodyPr wrap="square" lIns="152400" tIns="76200" rIns="127000" bIns="76200" rtlCol="0" anchor="ctr"/>
          <a:lstStyle/>
          <a:p>
            <a:pPr algn="l" indent="0" marL="0">
              <a:buNone/>
            </a:pPr>
            <a:r>
              <a:rPr lang="en-US" sz="2000" b="1" dirty="0">
                <a:solidFill>
                  <a:schemeClr val="tx1"/>
                </a:solidFill>
              </a:rPr>
              <a:t>Supabase Postgres</a:t>
            </a:r>
            <a:endParaRPr lang="en-US" sz="2000" dirty="0"/>
          </a:p>
          <a:p>
            <a:pPr algn="l" indent="0" marL="0">
              <a:buNone/>
            </a:pPr>
            <a:r>
              <a:rPr lang="en-US" sz="1800" dirty="0">
                <a:solidFill>
                  <a:schemeClr val="tx1"/>
                </a:solidFill>
              </a:rPr>
              <a:t>workflows · evidence · photos · audit log</a:t>
            </a:r>
            <a:endParaRPr lang="en-US" sz="2000" dirty="0"/>
          </a:p>
        </p:txBody>
      </p:sp>
      <p:sp>
        <p:nvSpPr>
          <p:cNvPr id="11" name="line-47"/>
          <p:cNvSpPr/>
          <p:nvPr/>
        </p:nvSpPr>
        <p:spPr>
          <a:xfrm>
            <a:off x="5943600" y="3611880"/>
            <a:ext cx="0" cy="502920"/>
          </a:xfrm>
          <a:prstGeom prst="line">
            <a:avLst/>
          </a:prstGeom>
          <a:noFill/>
          <a:ln w="31750">
            <a:solidFill>
              <a:schemeClr val="tx1"/>
            </a:solidFill>
            <a:prstDash val="solid"/>
          </a:ln>
        </p:spPr>
      </p:sp>
      <p:sp>
        <p:nvSpPr>
          <p:cNvPr id="12" name="line-48"/>
          <p:cNvSpPr/>
          <p:nvPr/>
        </p:nvSpPr>
        <p:spPr>
          <a:xfrm>
            <a:off x="1577340" y="4114800"/>
            <a:ext cx="9034272" cy="0"/>
          </a:xfrm>
          <a:prstGeom prst="line">
            <a:avLst/>
          </a:prstGeom>
          <a:noFill/>
          <a:ln w="31750">
            <a:solidFill>
              <a:schemeClr val="tx1"/>
            </a:solidFill>
            <a:prstDash val="solid"/>
          </a:ln>
        </p:spPr>
      </p:sp>
      <p:sp>
        <p:nvSpPr>
          <p:cNvPr id="13" name="line-49"/>
          <p:cNvSpPr/>
          <p:nvPr/>
        </p:nvSpPr>
        <p:spPr>
          <a:xfrm>
            <a:off x="1577340" y="4114800"/>
            <a:ext cx="0" cy="320040"/>
          </a:xfrm>
          <a:prstGeom prst="line">
            <a:avLst/>
          </a:prstGeom>
          <a:noFill/>
          <a:ln w="31750">
            <a:solidFill>
              <a:schemeClr val="tx1"/>
            </a:solidFill>
            <a:prstDash val="solid"/>
            <a:tailEnd type="triangle"/>
          </a:ln>
        </p:spPr>
      </p:sp>
      <p:sp>
        <p:nvSpPr>
          <p:cNvPr id="14" name="line-50"/>
          <p:cNvSpPr/>
          <p:nvPr/>
        </p:nvSpPr>
        <p:spPr>
          <a:xfrm>
            <a:off x="3835908" y="4114800"/>
            <a:ext cx="0" cy="320040"/>
          </a:xfrm>
          <a:prstGeom prst="line">
            <a:avLst/>
          </a:prstGeom>
          <a:noFill/>
          <a:ln w="31750">
            <a:solidFill>
              <a:schemeClr val="tx1"/>
            </a:solidFill>
            <a:prstDash val="solid"/>
            <a:tailEnd type="triangle"/>
          </a:ln>
        </p:spPr>
      </p:sp>
      <p:sp>
        <p:nvSpPr>
          <p:cNvPr id="15" name="line-51"/>
          <p:cNvSpPr/>
          <p:nvPr/>
        </p:nvSpPr>
        <p:spPr>
          <a:xfrm>
            <a:off x="6094476" y="4114800"/>
            <a:ext cx="0" cy="320040"/>
          </a:xfrm>
          <a:prstGeom prst="line">
            <a:avLst/>
          </a:prstGeom>
          <a:noFill/>
          <a:ln w="31750">
            <a:solidFill>
              <a:schemeClr val="tx1"/>
            </a:solidFill>
            <a:prstDash val="solid"/>
            <a:tailEnd type="triangle"/>
          </a:ln>
        </p:spPr>
      </p:sp>
      <p:sp>
        <p:nvSpPr>
          <p:cNvPr id="16" name="line-52"/>
          <p:cNvSpPr/>
          <p:nvPr/>
        </p:nvSpPr>
        <p:spPr>
          <a:xfrm>
            <a:off x="8353044" y="4114800"/>
            <a:ext cx="0" cy="320040"/>
          </a:xfrm>
          <a:prstGeom prst="line">
            <a:avLst/>
          </a:prstGeom>
          <a:noFill/>
          <a:ln w="31750">
            <a:solidFill>
              <a:schemeClr val="tx1"/>
            </a:solidFill>
            <a:prstDash val="solid"/>
            <a:tailEnd type="triangle"/>
          </a:ln>
        </p:spPr>
      </p:sp>
      <p:sp>
        <p:nvSpPr>
          <p:cNvPr id="17" name="line-53"/>
          <p:cNvSpPr/>
          <p:nvPr/>
        </p:nvSpPr>
        <p:spPr>
          <a:xfrm>
            <a:off x="10611612" y="4114800"/>
            <a:ext cx="0" cy="320040"/>
          </a:xfrm>
          <a:prstGeom prst="line">
            <a:avLst/>
          </a:prstGeom>
          <a:noFill/>
          <a:ln w="31750">
            <a:solidFill>
              <a:schemeClr val="tx1"/>
            </a:solidFill>
            <a:prstDash val="solid"/>
            <a:tailEnd type="triangle"/>
          </a:ln>
        </p:spPr>
      </p:sp>
      <p:sp>
        <p:nvSpPr>
          <p:cNvPr id="18" name="arch-bus-label-54"/>
          <p:cNvSpPr txBox="1"/>
          <p:nvPr/>
        </p:nvSpPr>
        <p:spPr>
          <a:xfrm>
            <a:off x="6126480" y="3685032"/>
            <a:ext cx="5516575" cy="347472"/>
          </a:xfrm>
          <a:prstGeom prst="rect">
            <a:avLst/>
          </a:prstGeom>
          <a:noFill/>
          <a:ln/>
        </p:spPr>
        <p:txBody>
          <a:bodyPr wrap="square" lIns="0" tIns="0" rIns="0" bIns="0" rtlCol="0" anchor="t"/>
          <a:lstStyle/>
          <a:p>
            <a:pPr algn="l" indent="0" marL="0">
              <a:buNone/>
            </a:pPr>
            <a:r>
              <a:rPr lang="en-US" sz="1600" dirty="0">
                <a:solidFill>
                  <a:schemeClr val="tx2"/>
                </a:solidFill>
              </a:rPr>
              <a:t>Input ↓ with all earlier evidence  ·  Evidence Record ↑</a:t>
            </a:r>
            <a:endParaRPr lang="en-US" sz="1600" dirty="0"/>
          </a:p>
        </p:txBody>
      </p:sp>
      <p:sp>
        <p:nvSpPr>
          <p:cNvPr id="19" name="arch-agent-55"/>
          <p:cNvSpPr txBox="1"/>
          <p:nvPr/>
        </p:nvSpPr>
        <p:spPr>
          <a:xfrm>
            <a:off x="548640" y="4434840"/>
            <a:ext cx="2057400" cy="1188720"/>
          </a:xfrm>
          <a:prstGeom prst="roundRect">
            <a:avLst>
              <a:gd name="adj" fmla="val 7692"/>
            </a:avLst>
          </a:prstGeom>
          <a:solidFill>
            <a:schemeClr val="bg1"/>
          </a:solidFill>
          <a:ln w="25400">
            <a:solidFill>
              <a:schemeClr val="tx1"/>
            </a:solidFill>
          </a:ln>
        </p:spPr>
        <p:txBody>
          <a:bodyPr wrap="square" lIns="127000" tIns="50800" rIns="101600" bIns="50800" rtlCol="0" anchor="ctr"/>
          <a:lstStyle/>
          <a:p>
            <a:pPr algn="l" indent="0" marL="0">
              <a:buNone/>
            </a:pPr>
            <a:endParaRPr lang="en-US" sz="2000" dirty="0"/>
          </a:p>
        </p:txBody>
      </p:sp>
      <p:sp>
        <p:nvSpPr>
          <p:cNvPr id="20" name="chip-56"/>
          <p:cNvSpPr txBox="1"/>
          <p:nvPr/>
        </p:nvSpPr>
        <p:spPr>
          <a:xfrm>
            <a:off x="685800" y="4599432"/>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1</a:t>
            </a:r>
            <a:endParaRPr lang="en-US" sz="1800" dirty="0"/>
          </a:p>
        </p:txBody>
      </p:sp>
      <p:sp>
        <p:nvSpPr>
          <p:cNvPr id="21" name="arch-agent-name-57"/>
          <p:cNvSpPr txBox="1"/>
          <p:nvPr/>
        </p:nvSpPr>
        <p:spPr>
          <a:xfrm>
            <a:off x="1234440" y="4599432"/>
            <a:ext cx="1280160" cy="457200"/>
          </a:xfrm>
          <a:prstGeom prst="rect">
            <a:avLst/>
          </a:prstGeom>
          <a:noFill/>
          <a:ln/>
        </p:spPr>
        <p:txBody>
          <a:bodyPr wrap="square" lIns="0" tIns="0" rIns="0" bIns="0" rtlCol="0" anchor="ctr"/>
          <a:lstStyle/>
          <a:p>
            <a:pPr algn="l" indent="0" marL="0">
              <a:buNone/>
            </a:pPr>
            <a:r>
              <a:rPr lang="en-US" sz="2000" b="1" dirty="0">
                <a:solidFill>
                  <a:schemeClr val="tx1"/>
                </a:solidFill>
              </a:rPr>
              <a:t>Receiving</a:t>
            </a:r>
            <a:endParaRPr lang="en-US" sz="2000" dirty="0"/>
          </a:p>
        </p:txBody>
      </p:sp>
      <p:sp>
        <p:nvSpPr>
          <p:cNvPr id="22" name="arch-agent-model-58"/>
          <p:cNvSpPr txBox="1"/>
          <p:nvPr/>
        </p:nvSpPr>
        <p:spPr>
          <a:xfrm>
            <a:off x="704088" y="5166360"/>
            <a:ext cx="1783080" cy="347472"/>
          </a:xfrm>
          <a:prstGeom prst="rect">
            <a:avLst/>
          </a:prstGeom>
          <a:noFill/>
          <a:ln/>
        </p:spPr>
        <p:txBody>
          <a:bodyPr wrap="square" lIns="0" tIns="0" rIns="0" bIns="0" rtlCol="0" anchor="t"/>
          <a:lstStyle/>
          <a:p>
            <a:pPr algn="l" indent="0" marL="0">
              <a:buNone/>
            </a:pPr>
            <a:r>
              <a:rPr lang="en-US" sz="1800" dirty="0">
                <a:solidFill>
                  <a:schemeClr val="tx2"/>
                </a:solidFill>
              </a:rPr>
              <a:t>Gemini + rules</a:t>
            </a:r>
            <a:endParaRPr lang="en-US" sz="1800" dirty="0"/>
          </a:p>
        </p:txBody>
      </p:sp>
      <p:sp>
        <p:nvSpPr>
          <p:cNvPr id="23" name="arch-agent-59"/>
          <p:cNvSpPr txBox="1"/>
          <p:nvPr/>
        </p:nvSpPr>
        <p:spPr>
          <a:xfrm>
            <a:off x="2807208" y="4434840"/>
            <a:ext cx="2057400" cy="1188720"/>
          </a:xfrm>
          <a:prstGeom prst="roundRect">
            <a:avLst>
              <a:gd name="adj" fmla="val 7692"/>
            </a:avLst>
          </a:prstGeom>
          <a:solidFill>
            <a:schemeClr val="bg1"/>
          </a:solidFill>
          <a:ln w="25400">
            <a:solidFill>
              <a:schemeClr val="tx1"/>
            </a:solidFill>
          </a:ln>
        </p:spPr>
        <p:txBody>
          <a:bodyPr wrap="square" lIns="127000" tIns="50800" rIns="101600" bIns="50800" rtlCol="0" anchor="ctr"/>
          <a:lstStyle/>
          <a:p>
            <a:pPr algn="l" indent="0" marL="0">
              <a:buNone/>
            </a:pPr>
            <a:endParaRPr lang="en-US" sz="2000" dirty="0"/>
          </a:p>
        </p:txBody>
      </p:sp>
      <p:sp>
        <p:nvSpPr>
          <p:cNvPr id="24" name="chip-60"/>
          <p:cNvSpPr txBox="1"/>
          <p:nvPr/>
        </p:nvSpPr>
        <p:spPr>
          <a:xfrm>
            <a:off x="2944368" y="4599432"/>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2</a:t>
            </a:r>
            <a:endParaRPr lang="en-US" sz="1800" dirty="0"/>
          </a:p>
        </p:txBody>
      </p:sp>
      <p:sp>
        <p:nvSpPr>
          <p:cNvPr id="25" name="arch-agent-name-61"/>
          <p:cNvSpPr txBox="1"/>
          <p:nvPr/>
        </p:nvSpPr>
        <p:spPr>
          <a:xfrm>
            <a:off x="3493008" y="4599432"/>
            <a:ext cx="1280160" cy="457200"/>
          </a:xfrm>
          <a:prstGeom prst="rect">
            <a:avLst/>
          </a:prstGeom>
          <a:noFill/>
          <a:ln/>
        </p:spPr>
        <p:txBody>
          <a:bodyPr wrap="square" lIns="0" tIns="0" rIns="0" bIns="0" rtlCol="0" anchor="ctr"/>
          <a:lstStyle/>
          <a:p>
            <a:pPr algn="l" indent="0" marL="0">
              <a:buNone/>
            </a:pPr>
            <a:r>
              <a:rPr lang="en-US" sz="2000" b="1" dirty="0">
                <a:solidFill>
                  <a:schemeClr val="tx1"/>
                </a:solidFill>
              </a:rPr>
              <a:t>Prep</a:t>
            </a:r>
            <a:endParaRPr lang="en-US" sz="2000" dirty="0"/>
          </a:p>
        </p:txBody>
      </p:sp>
      <p:sp>
        <p:nvSpPr>
          <p:cNvPr id="26" name="arch-agent-model-62"/>
          <p:cNvSpPr txBox="1"/>
          <p:nvPr/>
        </p:nvSpPr>
        <p:spPr>
          <a:xfrm>
            <a:off x="2962656" y="5166360"/>
            <a:ext cx="1783080" cy="347472"/>
          </a:xfrm>
          <a:prstGeom prst="rect">
            <a:avLst/>
          </a:prstGeom>
          <a:noFill/>
          <a:ln/>
        </p:spPr>
        <p:txBody>
          <a:bodyPr wrap="square" lIns="0" tIns="0" rIns="0" bIns="0" rtlCol="0" anchor="t"/>
          <a:lstStyle/>
          <a:p>
            <a:pPr algn="l" indent="0" marL="0">
              <a:buNone/>
            </a:pPr>
            <a:r>
              <a:rPr lang="en-US" sz="1800" dirty="0">
                <a:solidFill>
                  <a:schemeClr val="tx2"/>
                </a:solidFill>
              </a:rPr>
              <a:t>Gemini + rules</a:t>
            </a:r>
            <a:endParaRPr lang="en-US" sz="1800" dirty="0"/>
          </a:p>
        </p:txBody>
      </p:sp>
      <p:sp>
        <p:nvSpPr>
          <p:cNvPr id="27" name="arch-agent-63"/>
          <p:cNvSpPr txBox="1"/>
          <p:nvPr/>
        </p:nvSpPr>
        <p:spPr>
          <a:xfrm>
            <a:off x="5065776" y="4434840"/>
            <a:ext cx="2057400" cy="1188720"/>
          </a:xfrm>
          <a:prstGeom prst="roundRect">
            <a:avLst>
              <a:gd name="adj" fmla="val 7692"/>
            </a:avLst>
          </a:prstGeom>
          <a:solidFill>
            <a:schemeClr val="bg1"/>
          </a:solidFill>
          <a:ln w="25400">
            <a:solidFill>
              <a:schemeClr val="tx1"/>
            </a:solidFill>
          </a:ln>
        </p:spPr>
        <p:txBody>
          <a:bodyPr wrap="square" lIns="127000" tIns="50800" rIns="101600" bIns="50800" rtlCol="0" anchor="ctr"/>
          <a:lstStyle/>
          <a:p>
            <a:pPr algn="l" indent="0" marL="0">
              <a:buNone/>
            </a:pPr>
            <a:endParaRPr lang="en-US" sz="2000" dirty="0"/>
          </a:p>
        </p:txBody>
      </p:sp>
      <p:sp>
        <p:nvSpPr>
          <p:cNvPr id="28" name="chip-64"/>
          <p:cNvSpPr txBox="1"/>
          <p:nvPr/>
        </p:nvSpPr>
        <p:spPr>
          <a:xfrm>
            <a:off x="5202936" y="4599432"/>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3</a:t>
            </a:r>
            <a:endParaRPr lang="en-US" sz="1800" dirty="0"/>
          </a:p>
        </p:txBody>
      </p:sp>
      <p:sp>
        <p:nvSpPr>
          <p:cNvPr id="29" name="arch-agent-name-65"/>
          <p:cNvSpPr txBox="1"/>
          <p:nvPr/>
        </p:nvSpPr>
        <p:spPr>
          <a:xfrm>
            <a:off x="5751576" y="4599432"/>
            <a:ext cx="1280160" cy="457200"/>
          </a:xfrm>
          <a:prstGeom prst="rect">
            <a:avLst/>
          </a:prstGeom>
          <a:noFill/>
          <a:ln/>
        </p:spPr>
        <p:txBody>
          <a:bodyPr wrap="square" lIns="0" tIns="0" rIns="0" bIns="0" rtlCol="0" anchor="ctr"/>
          <a:lstStyle/>
          <a:p>
            <a:pPr algn="l" indent="0" marL="0">
              <a:buNone/>
            </a:pPr>
            <a:r>
              <a:rPr lang="en-US" sz="2000" b="1" dirty="0">
                <a:solidFill>
                  <a:schemeClr val="tx1"/>
                </a:solidFill>
              </a:rPr>
              <a:t>Pack</a:t>
            </a:r>
            <a:endParaRPr lang="en-US" sz="2000" dirty="0"/>
          </a:p>
        </p:txBody>
      </p:sp>
      <p:sp>
        <p:nvSpPr>
          <p:cNvPr id="30" name="arch-agent-model-66"/>
          <p:cNvSpPr txBox="1"/>
          <p:nvPr/>
        </p:nvSpPr>
        <p:spPr>
          <a:xfrm>
            <a:off x="5221224" y="5166360"/>
            <a:ext cx="1783080" cy="347472"/>
          </a:xfrm>
          <a:prstGeom prst="rect">
            <a:avLst/>
          </a:prstGeom>
          <a:noFill/>
          <a:ln/>
        </p:spPr>
        <p:txBody>
          <a:bodyPr wrap="square" lIns="0" tIns="0" rIns="0" bIns="0" rtlCol="0" anchor="t"/>
          <a:lstStyle/>
          <a:p>
            <a:pPr algn="l" indent="0" marL="0">
              <a:buNone/>
            </a:pPr>
            <a:r>
              <a:rPr lang="en-US" sz="1800" dirty="0">
                <a:solidFill>
                  <a:schemeClr val="tx2"/>
                </a:solidFill>
              </a:rPr>
              <a:t>Gemini + rules</a:t>
            </a:r>
            <a:endParaRPr lang="en-US" sz="1800" dirty="0"/>
          </a:p>
        </p:txBody>
      </p:sp>
      <p:sp>
        <p:nvSpPr>
          <p:cNvPr id="31" name="arch-agent-67"/>
          <p:cNvSpPr txBox="1"/>
          <p:nvPr/>
        </p:nvSpPr>
        <p:spPr>
          <a:xfrm>
            <a:off x="7324344" y="4434840"/>
            <a:ext cx="2057400" cy="1188720"/>
          </a:xfrm>
          <a:prstGeom prst="roundRect">
            <a:avLst>
              <a:gd name="adj" fmla="val 7692"/>
            </a:avLst>
          </a:prstGeom>
          <a:solidFill>
            <a:schemeClr val="bg1"/>
          </a:solidFill>
          <a:ln w="25400">
            <a:solidFill>
              <a:schemeClr val="tx1"/>
            </a:solidFill>
          </a:ln>
        </p:spPr>
        <p:txBody>
          <a:bodyPr wrap="square" lIns="127000" tIns="50800" rIns="101600" bIns="50800" rtlCol="0" anchor="ctr"/>
          <a:lstStyle/>
          <a:p>
            <a:pPr algn="l" indent="0" marL="0">
              <a:buNone/>
            </a:pPr>
            <a:endParaRPr lang="en-US" sz="2000" dirty="0"/>
          </a:p>
        </p:txBody>
      </p:sp>
      <p:sp>
        <p:nvSpPr>
          <p:cNvPr id="32" name="chip-68"/>
          <p:cNvSpPr txBox="1"/>
          <p:nvPr/>
        </p:nvSpPr>
        <p:spPr>
          <a:xfrm>
            <a:off x="7461504" y="4599432"/>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4</a:t>
            </a:r>
            <a:endParaRPr lang="en-US" sz="1800" dirty="0"/>
          </a:p>
        </p:txBody>
      </p:sp>
      <p:sp>
        <p:nvSpPr>
          <p:cNvPr id="33" name="arch-agent-name-69"/>
          <p:cNvSpPr txBox="1"/>
          <p:nvPr/>
        </p:nvSpPr>
        <p:spPr>
          <a:xfrm>
            <a:off x="8010144" y="4599432"/>
            <a:ext cx="1280160" cy="457200"/>
          </a:xfrm>
          <a:prstGeom prst="rect">
            <a:avLst/>
          </a:prstGeom>
          <a:noFill/>
          <a:ln/>
        </p:spPr>
        <p:txBody>
          <a:bodyPr wrap="square" lIns="0" tIns="0" rIns="0" bIns="0" rtlCol="0" anchor="ctr"/>
          <a:lstStyle/>
          <a:p>
            <a:pPr algn="l" indent="0" marL="0">
              <a:buNone/>
            </a:pPr>
            <a:r>
              <a:rPr lang="en-US" sz="2000" b="1" dirty="0">
                <a:solidFill>
                  <a:schemeClr val="tx1"/>
                </a:solidFill>
              </a:rPr>
              <a:t>Returns</a:t>
            </a:r>
            <a:endParaRPr lang="en-US" sz="2000" dirty="0"/>
          </a:p>
        </p:txBody>
      </p:sp>
      <p:sp>
        <p:nvSpPr>
          <p:cNvPr id="34" name="arch-agent-model-70"/>
          <p:cNvSpPr txBox="1"/>
          <p:nvPr/>
        </p:nvSpPr>
        <p:spPr>
          <a:xfrm>
            <a:off x="7479792" y="5166360"/>
            <a:ext cx="1783080" cy="347472"/>
          </a:xfrm>
          <a:prstGeom prst="rect">
            <a:avLst/>
          </a:prstGeom>
          <a:noFill/>
          <a:ln/>
        </p:spPr>
        <p:txBody>
          <a:bodyPr wrap="square" lIns="0" tIns="0" rIns="0" bIns="0" rtlCol="0" anchor="t"/>
          <a:lstStyle/>
          <a:p>
            <a:pPr algn="l" indent="0" marL="0">
              <a:buNone/>
            </a:pPr>
            <a:r>
              <a:rPr lang="en-US" sz="1800" dirty="0">
                <a:solidFill>
                  <a:schemeClr val="tx2"/>
                </a:solidFill>
              </a:rPr>
              <a:t>Gemini + rules</a:t>
            </a:r>
            <a:endParaRPr lang="en-US" sz="1800" dirty="0"/>
          </a:p>
        </p:txBody>
      </p:sp>
      <p:sp>
        <p:nvSpPr>
          <p:cNvPr id="35" name="arch-agent-71"/>
          <p:cNvSpPr txBox="1"/>
          <p:nvPr/>
        </p:nvSpPr>
        <p:spPr>
          <a:xfrm>
            <a:off x="9582912" y="4434840"/>
            <a:ext cx="2057400" cy="1188720"/>
          </a:xfrm>
          <a:prstGeom prst="roundRect">
            <a:avLst>
              <a:gd name="adj" fmla="val 7692"/>
            </a:avLst>
          </a:prstGeom>
          <a:solidFill>
            <a:schemeClr val="bg1"/>
          </a:solidFill>
          <a:ln w="25400">
            <a:solidFill>
              <a:schemeClr val="tx1"/>
            </a:solidFill>
          </a:ln>
        </p:spPr>
        <p:txBody>
          <a:bodyPr wrap="square" lIns="127000" tIns="50800" rIns="101600" bIns="50800" rtlCol="0" anchor="ctr"/>
          <a:lstStyle/>
          <a:p>
            <a:pPr algn="l" indent="0" marL="0">
              <a:buNone/>
            </a:pPr>
            <a:endParaRPr lang="en-US" sz="2000" dirty="0"/>
          </a:p>
        </p:txBody>
      </p:sp>
      <p:sp>
        <p:nvSpPr>
          <p:cNvPr id="36" name="chip-72"/>
          <p:cNvSpPr txBox="1"/>
          <p:nvPr/>
        </p:nvSpPr>
        <p:spPr>
          <a:xfrm>
            <a:off x="9720072" y="4599432"/>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5</a:t>
            </a:r>
            <a:endParaRPr lang="en-US" sz="1800" dirty="0"/>
          </a:p>
        </p:txBody>
      </p:sp>
      <p:sp>
        <p:nvSpPr>
          <p:cNvPr id="37" name="arch-agent-name-73"/>
          <p:cNvSpPr txBox="1"/>
          <p:nvPr/>
        </p:nvSpPr>
        <p:spPr>
          <a:xfrm>
            <a:off x="10268712" y="4599432"/>
            <a:ext cx="1280160" cy="457200"/>
          </a:xfrm>
          <a:prstGeom prst="rect">
            <a:avLst/>
          </a:prstGeom>
          <a:noFill/>
          <a:ln/>
        </p:spPr>
        <p:txBody>
          <a:bodyPr wrap="square" lIns="0" tIns="0" rIns="0" bIns="0" rtlCol="0" anchor="ctr"/>
          <a:lstStyle/>
          <a:p>
            <a:pPr algn="l" indent="0" marL="0">
              <a:buNone/>
            </a:pPr>
            <a:r>
              <a:rPr lang="en-US" sz="2000" b="1" dirty="0">
                <a:solidFill>
                  <a:schemeClr val="tx1"/>
                </a:solidFill>
              </a:rPr>
              <a:t>Recovery</a:t>
            </a:r>
            <a:endParaRPr lang="en-US" sz="2000" dirty="0"/>
          </a:p>
        </p:txBody>
      </p:sp>
      <p:sp>
        <p:nvSpPr>
          <p:cNvPr id="38" name="arch-agent-model-74"/>
          <p:cNvSpPr txBox="1"/>
          <p:nvPr/>
        </p:nvSpPr>
        <p:spPr>
          <a:xfrm>
            <a:off x="9738360" y="5166360"/>
            <a:ext cx="1783080" cy="347472"/>
          </a:xfrm>
          <a:prstGeom prst="rect">
            <a:avLst/>
          </a:prstGeom>
          <a:noFill/>
          <a:ln/>
        </p:spPr>
        <p:txBody>
          <a:bodyPr wrap="square" lIns="0" tIns="0" rIns="0" bIns="0" rtlCol="0" anchor="t"/>
          <a:lstStyle/>
          <a:p>
            <a:pPr algn="l" indent="0" marL="0">
              <a:buNone/>
            </a:pPr>
            <a:r>
              <a:rPr lang="en-US" sz="1800" dirty="0">
                <a:solidFill>
                  <a:schemeClr val="tx2"/>
                </a:solidFill>
              </a:rPr>
              <a:t>rules, no model</a:t>
            </a:r>
            <a:endParaRPr lang="en-US" sz="1800" dirty="0"/>
          </a:p>
        </p:txBody>
      </p:sp>
      <p:sp>
        <p:nvSpPr>
          <p:cNvPr id="39" name="arch-caption-75"/>
          <p:cNvSpPr txBox="1"/>
          <p:nvPr/>
        </p:nvSpPr>
        <p:spPr>
          <a:xfrm>
            <a:off x="548640" y="5806440"/>
            <a:ext cx="11094415" cy="347472"/>
          </a:xfrm>
          <a:prstGeom prst="rect">
            <a:avLst/>
          </a:prstGeom>
          <a:noFill/>
          <a:ln/>
        </p:spPr>
        <p:txBody>
          <a:bodyPr wrap="square" lIns="0" tIns="0" rIns="0" bIns="0" rtlCol="0" anchor="t"/>
          <a:lstStyle/>
          <a:p>
            <a:pPr algn="l" indent="0" marL="0">
              <a:buNone/>
            </a:pPr>
            <a:r>
              <a:rPr lang="en-US" sz="1600" dirty="0">
                <a:solidFill>
                  <a:schemeClr val="tx2"/>
                </a:solidFill>
              </a:rPr>
              <a:t>Agents never call each other · the app runs on Render</a:t>
            </a:r>
            <a:endParaRPr lang="en-US" sz="1600" dirty="0"/>
          </a:p>
        </p:txBody>
      </p:sp>
      <p:sp>
        <p:nvSpPr>
          <p:cNvPr id="25" name="Slide Number Placeholder 0"/>
          <p:cNvSpPr>
            <a:spLocks noGrp="1"/>
          </p:cNvSpPr>
          <p:nvPr>
            <p:ph type="sldNum" sz="quarter" idx="4294967295"/>
          </p:nvPr>
        </p:nvSpPr>
        <p:spPr>
          <a:xfrm>
            <a:off x="11000232" y="638251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65760"/>
          </a:xfrm>
          <a:prstGeom prst="rect">
            <a:avLst/>
          </a:prstGeom>
          <a:noFill/>
          <a:ln/>
        </p:spPr>
        <p:txBody>
          <a:bodyPr wrap="square" lIns="0" tIns="0" rIns="0" bIns="0" rtlCol="0" anchor="t"/>
          <a:lstStyle/>
          <a:p>
            <a:pPr algn="l" indent="0" marL="0">
              <a:buNone/>
            </a:pPr>
            <a:r>
              <a:rPr lang="en-US" sz="1600" b="1" dirty="0">
                <a:solidFill>
                  <a:schemeClr val="accent1"/>
                </a:solidFill>
              </a:rPr>
              <a:t>END-TO-END INTEGRATION &amp; INTEROPERABILITY · 25</a:t>
            </a:r>
            <a:endParaRPr lang="en-US" sz="1600" dirty="0"/>
          </a:p>
        </p:txBody>
      </p:sp>
      <p:sp>
        <p:nvSpPr>
          <p:cNvPr id="3" name="Text 0"/>
          <p:cNvSpPr/>
          <p:nvPr>
            <p:ph idx="101" type="title" hasCustomPrompt="1"/>
          </p:nvPr>
        </p:nvSpPr>
        <p:spPr>
          <a:xfrm>
            <a:off x="548640" y="713232"/>
            <a:ext cx="11094415" cy="777240"/>
          </a:xfrm>
          <a:prstGeom prst="rect">
            <a:avLst/>
          </a:prstGeom>
          <a:noFill/>
          <a:ln/>
        </p:spPr>
        <p:txBody>
          <a:bodyPr wrap="square" lIns="0" tIns="0" rIns="0" bIns="0" rtlCol="0" anchor="t"/>
          <a:lstStyle/>
          <a:p>
            <a:pPr algn="l" indent="0" marL="0">
              <a:buNone/>
            </a:pPr>
            <a:r>
              <a:rPr lang="en-US" sz="3800" b="1" dirty="0">
                <a:solidFill>
                  <a:schemeClr val="tx1"/>
                </a:solidFill>
              </a:rPr>
              <a:t>One unit, end to end: UNIT-0014</a:t>
            </a:r>
            <a:endParaRPr lang="en-US" sz="3800" dirty="0"/>
          </a:p>
        </p:txBody>
      </p:sp>
      <p:sp>
        <p:nvSpPr>
          <p:cNvPr id="4" name="journey-head-76"/>
          <p:cNvSpPr txBox="1"/>
          <p:nvPr/>
        </p:nvSpPr>
        <p:spPr>
          <a:xfrm>
            <a:off x="548640" y="1645920"/>
            <a:ext cx="2103120" cy="292608"/>
          </a:xfrm>
          <a:prstGeom prst="rect">
            <a:avLst/>
          </a:prstGeom>
          <a:noFill/>
          <a:ln/>
        </p:spPr>
        <p:txBody>
          <a:bodyPr wrap="square" lIns="0" tIns="0" rIns="0" bIns="0" rtlCol="0" anchor="t"/>
          <a:lstStyle/>
          <a:p>
            <a:pPr algn="l" indent="0" marL="0">
              <a:buNone/>
            </a:pPr>
            <a:r>
              <a:rPr lang="en-US" sz="1600" b="1" dirty="0">
                <a:solidFill>
                  <a:schemeClr val="tx2"/>
                </a:solidFill>
              </a:rPr>
              <a:t>STAGE</a:t>
            </a:r>
            <a:endParaRPr lang="en-US" sz="1600" dirty="0"/>
          </a:p>
        </p:txBody>
      </p:sp>
      <p:sp>
        <p:nvSpPr>
          <p:cNvPr id="5" name="journey-head-77"/>
          <p:cNvSpPr txBox="1"/>
          <p:nvPr/>
        </p:nvSpPr>
        <p:spPr>
          <a:xfrm>
            <a:off x="2926080" y="1645920"/>
            <a:ext cx="4206240" cy="292608"/>
          </a:xfrm>
          <a:prstGeom prst="rect">
            <a:avLst/>
          </a:prstGeom>
          <a:noFill/>
          <a:ln/>
        </p:spPr>
        <p:txBody>
          <a:bodyPr wrap="square" lIns="0" tIns="0" rIns="0" bIns="0" rtlCol="0" anchor="t"/>
          <a:lstStyle/>
          <a:p>
            <a:pPr algn="l" indent="0" marL="0">
              <a:buNone/>
            </a:pPr>
            <a:r>
              <a:rPr lang="en-US" sz="1600" b="1" dirty="0">
                <a:solidFill>
                  <a:schemeClr val="tx2"/>
                </a:solidFill>
              </a:rPr>
              <a:t>READS</a:t>
            </a:r>
            <a:endParaRPr lang="en-US" sz="1600" dirty="0"/>
          </a:p>
        </p:txBody>
      </p:sp>
      <p:sp>
        <p:nvSpPr>
          <p:cNvPr id="6" name="journey-head-78"/>
          <p:cNvSpPr txBox="1"/>
          <p:nvPr/>
        </p:nvSpPr>
        <p:spPr>
          <a:xfrm>
            <a:off x="7360920" y="1645920"/>
            <a:ext cx="4206240" cy="292608"/>
          </a:xfrm>
          <a:prstGeom prst="rect">
            <a:avLst/>
          </a:prstGeom>
          <a:noFill/>
          <a:ln/>
        </p:spPr>
        <p:txBody>
          <a:bodyPr wrap="square" lIns="0" tIns="0" rIns="0" bIns="0" rtlCol="0" anchor="t"/>
          <a:lstStyle/>
          <a:p>
            <a:pPr algn="l" indent="0" marL="0">
              <a:buNone/>
            </a:pPr>
            <a:r>
              <a:rPr lang="en-US" sz="1600" b="1" dirty="0">
                <a:solidFill>
                  <a:schemeClr val="tx2"/>
                </a:solidFill>
              </a:rPr>
              <a:t>LEAVES BEHIND</a:t>
            </a:r>
            <a:endParaRPr lang="en-US" sz="1600" dirty="0"/>
          </a:p>
        </p:txBody>
      </p:sp>
      <p:sp>
        <p:nvSpPr>
          <p:cNvPr id="7" name="journey-row-79"/>
          <p:cNvSpPr txBox="1"/>
          <p:nvPr/>
        </p:nvSpPr>
        <p:spPr>
          <a:xfrm>
            <a:off x="548640" y="1993392"/>
            <a:ext cx="11094415" cy="493776"/>
          </a:xfrm>
          <a:prstGeom prst="roundRect">
            <a:avLst>
              <a:gd name="adj" fmla="val 14815"/>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8" name="chip-80"/>
          <p:cNvSpPr txBox="1"/>
          <p:nvPr/>
        </p:nvSpPr>
        <p:spPr>
          <a:xfrm>
            <a:off x="640080" y="2057400"/>
            <a:ext cx="384048" cy="38404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9" name="journey-stage-81"/>
          <p:cNvSpPr txBox="1"/>
          <p:nvPr/>
        </p:nvSpPr>
        <p:spPr>
          <a:xfrm>
            <a:off x="1143000" y="1993392"/>
            <a:ext cx="1691640" cy="493776"/>
          </a:xfrm>
          <a:prstGeom prst="rect">
            <a:avLst/>
          </a:prstGeom>
          <a:noFill/>
          <a:ln/>
        </p:spPr>
        <p:txBody>
          <a:bodyPr wrap="square" lIns="0" tIns="0" rIns="0" bIns="0" rtlCol="0" anchor="ctr"/>
          <a:lstStyle/>
          <a:p>
            <a:pPr algn="l" indent="0" marL="0">
              <a:buNone/>
            </a:pPr>
            <a:r>
              <a:rPr lang="en-US" sz="2000" b="1" dirty="0">
                <a:solidFill>
                  <a:schemeClr val="tx1"/>
                </a:solidFill>
              </a:rPr>
              <a:t>Receiving</a:t>
            </a:r>
            <a:endParaRPr lang="en-US" sz="2000" dirty="0"/>
          </a:p>
        </p:txBody>
      </p:sp>
      <p:sp>
        <p:nvSpPr>
          <p:cNvPr id="10" name="journey-reads-82"/>
          <p:cNvSpPr txBox="1"/>
          <p:nvPr/>
        </p:nvSpPr>
        <p:spPr>
          <a:xfrm>
            <a:off x="2926080" y="1993392"/>
            <a:ext cx="4343400" cy="493776"/>
          </a:xfrm>
          <a:prstGeom prst="rect">
            <a:avLst/>
          </a:prstGeom>
          <a:noFill/>
          <a:ln/>
        </p:spPr>
        <p:txBody>
          <a:bodyPr wrap="square" lIns="0" tIns="0" rIns="0" bIns="0" rtlCol="0" anchor="ctr"/>
          <a:lstStyle/>
          <a:p>
            <a:pPr algn="l" indent="0" marL="0">
              <a:buNone/>
            </a:pPr>
            <a:r>
              <a:rPr lang="en-US" sz="2000" dirty="0">
                <a:solidFill>
                  <a:schemeClr val="tx1"/>
                </a:solidFill>
              </a:rPr>
              <a:t>photos + the PO line</a:t>
            </a:r>
            <a:endParaRPr lang="en-US" sz="2000" dirty="0"/>
          </a:p>
        </p:txBody>
      </p:sp>
      <p:sp>
        <p:nvSpPr>
          <p:cNvPr id="11" name="journey-leaves-83"/>
          <p:cNvSpPr txBox="1"/>
          <p:nvPr/>
        </p:nvSpPr>
        <p:spPr>
          <a:xfrm>
            <a:off x="7360920" y="1993392"/>
            <a:ext cx="4206240" cy="493776"/>
          </a:xfrm>
          <a:prstGeom prst="rect">
            <a:avLst/>
          </a:prstGeom>
          <a:noFill/>
          <a:ln/>
        </p:spPr>
        <p:txBody>
          <a:bodyPr wrap="square" lIns="0" tIns="0" rIns="0" bIns="0" rtlCol="0" anchor="ctr"/>
          <a:lstStyle/>
          <a:p>
            <a:pPr algn="l" indent="0" marL="0">
              <a:buNone/>
            </a:pPr>
            <a:r>
              <a:rPr lang="en-US" sz="2000" b="1" dirty="0">
                <a:solidFill>
                  <a:schemeClr val="tx1"/>
                </a:solidFill>
              </a:rPr>
              <a:t>RCV-0014</a:t>
            </a:r>
            <a:pPr algn="l" indent="0" marL="0">
              <a:buNone/>
            </a:pPr>
            <a:r>
              <a:rPr lang="en-US" sz="2000" dirty="0">
                <a:solidFill>
                  <a:schemeClr val="tx1"/>
                </a:solidFill>
              </a:rPr>
              <a:t>  accept · PASS</a:t>
            </a:r>
            <a:endParaRPr lang="en-US" sz="2000" dirty="0"/>
          </a:p>
        </p:txBody>
      </p:sp>
      <p:sp>
        <p:nvSpPr>
          <p:cNvPr id="12" name="journey-row-84"/>
          <p:cNvSpPr txBox="1"/>
          <p:nvPr/>
        </p:nvSpPr>
        <p:spPr>
          <a:xfrm>
            <a:off x="548640" y="2560320"/>
            <a:ext cx="11094415" cy="493776"/>
          </a:xfrm>
          <a:prstGeom prst="roundRect">
            <a:avLst>
              <a:gd name="adj" fmla="val 14815"/>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13" name="chip-85"/>
          <p:cNvSpPr txBox="1"/>
          <p:nvPr/>
        </p:nvSpPr>
        <p:spPr>
          <a:xfrm>
            <a:off x="640080" y="2624328"/>
            <a:ext cx="384048" cy="38404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4" name="journey-stage-86"/>
          <p:cNvSpPr txBox="1"/>
          <p:nvPr/>
        </p:nvSpPr>
        <p:spPr>
          <a:xfrm>
            <a:off x="1143000" y="2560320"/>
            <a:ext cx="1691640" cy="493776"/>
          </a:xfrm>
          <a:prstGeom prst="rect">
            <a:avLst/>
          </a:prstGeom>
          <a:noFill/>
          <a:ln/>
        </p:spPr>
        <p:txBody>
          <a:bodyPr wrap="square" lIns="0" tIns="0" rIns="0" bIns="0" rtlCol="0" anchor="ctr"/>
          <a:lstStyle/>
          <a:p>
            <a:pPr algn="l" indent="0" marL="0">
              <a:buNone/>
            </a:pPr>
            <a:r>
              <a:rPr lang="en-US" sz="2000" b="1" dirty="0">
                <a:solidFill>
                  <a:schemeClr val="tx1"/>
                </a:solidFill>
              </a:rPr>
              <a:t>Prep</a:t>
            </a:r>
            <a:endParaRPr lang="en-US" sz="2000" dirty="0"/>
          </a:p>
        </p:txBody>
      </p:sp>
      <p:sp>
        <p:nvSpPr>
          <p:cNvPr id="15" name="journey-reads-87"/>
          <p:cNvSpPr txBox="1"/>
          <p:nvPr/>
        </p:nvSpPr>
        <p:spPr>
          <a:xfrm>
            <a:off x="2926080" y="2560320"/>
            <a:ext cx="4343400" cy="493776"/>
          </a:xfrm>
          <a:prstGeom prst="rect">
            <a:avLst/>
          </a:prstGeom>
          <a:noFill/>
          <a:ln/>
        </p:spPr>
        <p:txBody>
          <a:bodyPr wrap="square" lIns="0" tIns="0" rIns="0" bIns="0" rtlCol="0" anchor="ctr"/>
          <a:lstStyle/>
          <a:p>
            <a:pPr algn="l" indent="0" marL="0">
              <a:buNone/>
            </a:pPr>
            <a:r>
              <a:rPr lang="en-US" sz="2000" dirty="0">
                <a:solidFill>
                  <a:schemeClr val="tx1"/>
                </a:solidFill>
              </a:rPr>
              <a:t>photos + work order + Receiving</a:t>
            </a:r>
            <a:endParaRPr lang="en-US" sz="2000" dirty="0"/>
          </a:p>
        </p:txBody>
      </p:sp>
      <p:sp>
        <p:nvSpPr>
          <p:cNvPr id="16" name="journey-leaves-88"/>
          <p:cNvSpPr txBox="1"/>
          <p:nvPr/>
        </p:nvSpPr>
        <p:spPr>
          <a:xfrm>
            <a:off x="7360920" y="2560320"/>
            <a:ext cx="4206240" cy="493776"/>
          </a:xfrm>
          <a:prstGeom prst="rect">
            <a:avLst/>
          </a:prstGeom>
          <a:noFill/>
          <a:ln/>
        </p:spPr>
        <p:txBody>
          <a:bodyPr wrap="square" lIns="0" tIns="0" rIns="0" bIns="0" rtlCol="0" anchor="ctr"/>
          <a:lstStyle/>
          <a:p>
            <a:pPr algn="l" indent="0" marL="0">
              <a:buNone/>
            </a:pPr>
            <a:r>
              <a:rPr lang="en-US" sz="2000" b="1" dirty="0">
                <a:solidFill>
                  <a:schemeClr val="tx1"/>
                </a:solidFill>
              </a:rPr>
              <a:t>PRP-0014</a:t>
            </a:r>
            <a:pPr algn="l" indent="0" marL="0">
              <a:buNone/>
            </a:pPr>
            <a:r>
              <a:rPr lang="en-US" sz="2000" dirty="0">
                <a:solidFill>
                  <a:schemeClr val="tx1"/>
                </a:solidFill>
              </a:rPr>
              <a:t>  compliant · PASS</a:t>
            </a:r>
            <a:endParaRPr lang="en-US" sz="2000" dirty="0"/>
          </a:p>
        </p:txBody>
      </p:sp>
      <p:sp>
        <p:nvSpPr>
          <p:cNvPr id="17" name="journey-row-89"/>
          <p:cNvSpPr txBox="1"/>
          <p:nvPr/>
        </p:nvSpPr>
        <p:spPr>
          <a:xfrm>
            <a:off x="548640" y="3127248"/>
            <a:ext cx="11094415" cy="493776"/>
          </a:xfrm>
          <a:prstGeom prst="roundRect">
            <a:avLst>
              <a:gd name="adj" fmla="val 14815"/>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18" name="chip-90"/>
          <p:cNvSpPr txBox="1"/>
          <p:nvPr/>
        </p:nvSpPr>
        <p:spPr>
          <a:xfrm>
            <a:off x="640080" y="3191256"/>
            <a:ext cx="384048" cy="384048"/>
          </a:xfrm>
          <a:prstGeom prst="ellipse">
            <a:avLst/>
          </a:prstGeom>
          <a:solidFill>
            <a:schemeClr val="accent4"/>
          </a:solidFill>
          <a:ln>
            <a:solidFill>
              <a:schemeClr val="accent4"/>
            </a:solid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9" name="journey-stage-91"/>
          <p:cNvSpPr txBox="1"/>
          <p:nvPr/>
        </p:nvSpPr>
        <p:spPr>
          <a:xfrm>
            <a:off x="1143000" y="3127248"/>
            <a:ext cx="1691640" cy="493776"/>
          </a:xfrm>
          <a:prstGeom prst="rect">
            <a:avLst/>
          </a:prstGeom>
          <a:noFill/>
          <a:ln/>
        </p:spPr>
        <p:txBody>
          <a:bodyPr wrap="square" lIns="0" tIns="0" rIns="0" bIns="0" rtlCol="0" anchor="ctr"/>
          <a:lstStyle/>
          <a:p>
            <a:pPr algn="l" indent="0" marL="0">
              <a:buNone/>
            </a:pPr>
            <a:r>
              <a:rPr lang="en-US" sz="2000" b="1" dirty="0">
                <a:solidFill>
                  <a:schemeClr val="tx2"/>
                </a:solidFill>
              </a:rPr>
              <a:t>Pack</a:t>
            </a:r>
            <a:endParaRPr lang="en-US" sz="2000" dirty="0"/>
          </a:p>
        </p:txBody>
      </p:sp>
      <p:sp>
        <p:nvSpPr>
          <p:cNvPr id="20" name="journey-skip-92"/>
          <p:cNvSpPr txBox="1"/>
          <p:nvPr/>
        </p:nvSpPr>
        <p:spPr>
          <a:xfrm>
            <a:off x="2926080" y="3127248"/>
            <a:ext cx="8595360" cy="493776"/>
          </a:xfrm>
          <a:prstGeom prst="rect">
            <a:avLst/>
          </a:prstGeom>
          <a:noFill/>
          <a:ln/>
        </p:spPr>
        <p:txBody>
          <a:bodyPr wrap="square" lIns="0" tIns="0" rIns="0" bIns="0" rtlCol="0" anchor="ctr"/>
          <a:lstStyle/>
          <a:p>
            <a:pPr algn="l" indent="0" marL="0">
              <a:buNone/>
            </a:pPr>
            <a:r>
              <a:rPr lang="en-US" sz="2000" i="1" dirty="0">
                <a:solidFill>
                  <a:schemeClr val="tx2"/>
                </a:solidFill>
              </a:rPr>
              <a:t>skipped by routing: an FBA unit, so Amazon packs it</a:t>
            </a:r>
            <a:endParaRPr lang="en-US" sz="2000" dirty="0"/>
          </a:p>
        </p:txBody>
      </p:sp>
      <p:sp>
        <p:nvSpPr>
          <p:cNvPr id="21" name="journey-row-93"/>
          <p:cNvSpPr txBox="1"/>
          <p:nvPr/>
        </p:nvSpPr>
        <p:spPr>
          <a:xfrm>
            <a:off x="548640" y="3694176"/>
            <a:ext cx="11094415" cy="493776"/>
          </a:xfrm>
          <a:prstGeom prst="roundRect">
            <a:avLst>
              <a:gd name="adj" fmla="val 14815"/>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22" name="chip-94"/>
          <p:cNvSpPr txBox="1"/>
          <p:nvPr/>
        </p:nvSpPr>
        <p:spPr>
          <a:xfrm>
            <a:off x="640080" y="3758184"/>
            <a:ext cx="384048" cy="38404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23" name="journey-stage-95"/>
          <p:cNvSpPr txBox="1"/>
          <p:nvPr/>
        </p:nvSpPr>
        <p:spPr>
          <a:xfrm>
            <a:off x="1143000" y="3694176"/>
            <a:ext cx="1691640" cy="493776"/>
          </a:xfrm>
          <a:prstGeom prst="rect">
            <a:avLst/>
          </a:prstGeom>
          <a:noFill/>
          <a:ln/>
        </p:spPr>
        <p:txBody>
          <a:bodyPr wrap="square" lIns="0" tIns="0" rIns="0" bIns="0" rtlCol="0" anchor="ctr"/>
          <a:lstStyle/>
          <a:p>
            <a:pPr algn="l" indent="0" marL="0">
              <a:buNone/>
            </a:pPr>
            <a:r>
              <a:rPr lang="en-US" sz="2000" b="1" dirty="0">
                <a:solidFill>
                  <a:schemeClr val="tx1"/>
                </a:solidFill>
              </a:rPr>
              <a:t>Returns</a:t>
            </a:r>
            <a:endParaRPr lang="en-US" sz="2000" dirty="0"/>
          </a:p>
        </p:txBody>
      </p:sp>
      <p:sp>
        <p:nvSpPr>
          <p:cNvPr id="24" name="journey-reads-96"/>
          <p:cNvSpPr txBox="1"/>
          <p:nvPr/>
        </p:nvSpPr>
        <p:spPr>
          <a:xfrm>
            <a:off x="2926080" y="3694176"/>
            <a:ext cx="4343400" cy="493776"/>
          </a:xfrm>
          <a:prstGeom prst="rect">
            <a:avLst/>
          </a:prstGeom>
          <a:noFill/>
          <a:ln/>
        </p:spPr>
        <p:txBody>
          <a:bodyPr wrap="square" lIns="0" tIns="0" rIns="0" bIns="0" rtlCol="0" anchor="ctr"/>
          <a:lstStyle/>
          <a:p>
            <a:pPr algn="l" indent="0" marL="0">
              <a:buNone/>
            </a:pPr>
            <a:r>
              <a:rPr lang="en-US" sz="2000" dirty="0">
                <a:solidFill>
                  <a:schemeClr val="tx1"/>
                </a:solidFill>
              </a:rPr>
              <a:t>photos + Pack &amp; Receiving records</a:t>
            </a:r>
            <a:endParaRPr lang="en-US" sz="2000" dirty="0"/>
          </a:p>
        </p:txBody>
      </p:sp>
      <p:sp>
        <p:nvSpPr>
          <p:cNvPr id="25" name="journey-leaves-97"/>
          <p:cNvSpPr txBox="1"/>
          <p:nvPr/>
        </p:nvSpPr>
        <p:spPr>
          <a:xfrm>
            <a:off x="7360920" y="3694176"/>
            <a:ext cx="4206240" cy="493776"/>
          </a:xfrm>
          <a:prstGeom prst="rect">
            <a:avLst/>
          </a:prstGeom>
          <a:noFill/>
          <a:ln/>
        </p:spPr>
        <p:txBody>
          <a:bodyPr wrap="square" lIns="0" tIns="0" rIns="0" bIns="0" rtlCol="0" anchor="ctr"/>
          <a:lstStyle/>
          <a:p>
            <a:pPr algn="l" indent="0" marL="0">
              <a:buNone/>
            </a:pPr>
            <a:r>
              <a:rPr lang="en-US" sz="2000" b="1" dirty="0">
                <a:solidFill>
                  <a:schemeClr val="tx1"/>
                </a:solidFill>
              </a:rPr>
              <a:t>RTN-0014</a:t>
            </a:r>
            <a:pPr algn="l" indent="0" marL="0">
              <a:buNone/>
            </a:pPr>
            <a:r>
              <a:rPr lang="en-US" sz="2000" dirty="0">
                <a:solidFill>
                  <a:schemeClr val="tx1"/>
                </a:solidFill>
              </a:rPr>
              <a:t>  liquidate · PASS</a:t>
            </a:r>
            <a:endParaRPr lang="en-US" sz="2000" dirty="0"/>
          </a:p>
        </p:txBody>
      </p:sp>
      <p:sp>
        <p:nvSpPr>
          <p:cNvPr id="26" name="journey-row-98"/>
          <p:cNvSpPr txBox="1"/>
          <p:nvPr/>
        </p:nvSpPr>
        <p:spPr>
          <a:xfrm>
            <a:off x="548640" y="4261104"/>
            <a:ext cx="11094415" cy="493776"/>
          </a:xfrm>
          <a:prstGeom prst="roundRect">
            <a:avLst>
              <a:gd name="adj" fmla="val 14815"/>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27" name="chip-99"/>
          <p:cNvSpPr txBox="1"/>
          <p:nvPr/>
        </p:nvSpPr>
        <p:spPr>
          <a:xfrm>
            <a:off x="640080" y="4325112"/>
            <a:ext cx="384048" cy="38404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5</a:t>
            </a:r>
            <a:endParaRPr lang="en-US" sz="1600" dirty="0"/>
          </a:p>
        </p:txBody>
      </p:sp>
      <p:sp>
        <p:nvSpPr>
          <p:cNvPr id="28" name="journey-stage-100"/>
          <p:cNvSpPr txBox="1"/>
          <p:nvPr/>
        </p:nvSpPr>
        <p:spPr>
          <a:xfrm>
            <a:off x="1143000" y="4261104"/>
            <a:ext cx="1691640" cy="493776"/>
          </a:xfrm>
          <a:prstGeom prst="rect">
            <a:avLst/>
          </a:prstGeom>
          <a:noFill/>
          <a:ln/>
        </p:spPr>
        <p:txBody>
          <a:bodyPr wrap="square" lIns="0" tIns="0" rIns="0" bIns="0" rtlCol="0" anchor="ctr"/>
          <a:lstStyle/>
          <a:p>
            <a:pPr algn="l" indent="0" marL="0">
              <a:buNone/>
            </a:pPr>
            <a:r>
              <a:rPr lang="en-US" sz="2000" b="1" dirty="0">
                <a:solidFill>
                  <a:schemeClr val="tx1"/>
                </a:solidFill>
              </a:rPr>
              <a:t>Recovery</a:t>
            </a:r>
            <a:endParaRPr lang="en-US" sz="2000" dirty="0"/>
          </a:p>
        </p:txBody>
      </p:sp>
      <p:sp>
        <p:nvSpPr>
          <p:cNvPr id="29" name="journey-reads-101"/>
          <p:cNvSpPr txBox="1"/>
          <p:nvPr/>
        </p:nvSpPr>
        <p:spPr>
          <a:xfrm>
            <a:off x="2926080" y="4261104"/>
            <a:ext cx="4343400" cy="493776"/>
          </a:xfrm>
          <a:prstGeom prst="rect">
            <a:avLst/>
          </a:prstGeom>
          <a:noFill/>
          <a:ln/>
        </p:spPr>
        <p:txBody>
          <a:bodyPr wrap="square" lIns="0" tIns="0" rIns="0" bIns="0" rtlCol="0" anchor="ctr"/>
          <a:lstStyle/>
          <a:p>
            <a:pPr algn="l" indent="0" marL="0">
              <a:buNone/>
            </a:pPr>
            <a:r>
              <a:rPr lang="en-US" sz="2000" dirty="0">
                <a:solidFill>
                  <a:schemeClr val="tx1"/>
                </a:solidFill>
              </a:rPr>
              <a:t>fee report + every earlier record</a:t>
            </a:r>
            <a:endParaRPr lang="en-US" sz="2000" dirty="0"/>
          </a:p>
        </p:txBody>
      </p:sp>
      <p:sp>
        <p:nvSpPr>
          <p:cNvPr id="30" name="journey-leaves-102"/>
          <p:cNvSpPr txBox="1"/>
          <p:nvPr/>
        </p:nvSpPr>
        <p:spPr>
          <a:xfrm>
            <a:off x="7360920" y="4261104"/>
            <a:ext cx="4206240" cy="493776"/>
          </a:xfrm>
          <a:prstGeom prst="rect">
            <a:avLst/>
          </a:prstGeom>
          <a:noFill/>
          <a:ln/>
        </p:spPr>
        <p:txBody>
          <a:bodyPr wrap="square" lIns="0" tIns="0" rIns="0" bIns="0" rtlCol="0" anchor="ctr"/>
          <a:lstStyle/>
          <a:p>
            <a:pPr algn="l" indent="0" marL="0">
              <a:buNone/>
            </a:pPr>
            <a:r>
              <a:rPr lang="en-US" sz="2000" b="1" dirty="0">
                <a:solidFill>
                  <a:schemeClr val="tx1"/>
                </a:solidFill>
              </a:rPr>
              <a:t>RCY-UNIT-0014</a:t>
            </a:r>
            <a:pPr algn="l" indent="0" marL="0">
              <a:buNone/>
            </a:pPr>
            <a:r>
              <a:rPr lang="en-US" sz="2000" dirty="0">
                <a:solidFill>
                  <a:schemeClr val="tx1"/>
                </a:solidFill>
              </a:rPr>
              <a:t>  claim_recommended</a:t>
            </a:r>
            <a:endParaRPr lang="en-US" sz="2000" dirty="0"/>
          </a:p>
        </p:txBody>
      </p:sp>
      <p:sp>
        <p:nvSpPr>
          <p:cNvPr id="31" name="journey-outcome-103"/>
          <p:cNvSpPr txBox="1"/>
          <p:nvPr/>
        </p:nvSpPr>
        <p:spPr>
          <a:xfrm>
            <a:off x="548640" y="4892040"/>
            <a:ext cx="11094415" cy="868680"/>
          </a:xfrm>
          <a:prstGeom prst="roundRect">
            <a:avLst>
              <a:gd name="adj" fmla="val 10526"/>
            </a:avLst>
          </a:prstGeom>
          <a:solidFill>
            <a:schemeClr val="accent1"/>
          </a:solidFill>
          <a:ln>
            <a:solidFill>
              <a:schemeClr val="accent1"/>
            </a:solidFill>
          </a:ln>
        </p:spPr>
        <p:txBody>
          <a:bodyPr wrap="square" lIns="177800" tIns="50800" rIns="127000" bIns="50800" rtlCol="0" anchor="ctr"/>
          <a:lstStyle/>
          <a:p>
            <a:pPr algn="l" indent="0" marL="0">
              <a:buNone/>
            </a:pPr>
            <a:r>
              <a:rPr lang="en-US" sz="2400" b="1" dirty="0">
                <a:solidFill>
                  <a:schemeClr val="bg1"/>
                </a:solidFill>
              </a:rPr>
              <a:t>Final outcome: CLAIM_RECOMMENDED · $2.00</a:t>
            </a:r>
            <a:endParaRPr lang="en-US" sz="2000" dirty="0"/>
          </a:p>
          <a:p>
            <a:pPr algn="l" indent="0" marL="0">
              <a:buNone/>
            </a:pPr>
            <a:r>
              <a:rPr lang="en-US" sz="1800" dirty="0">
                <a:solidFill>
                  <a:schemeClr val="bg1"/>
                </a:solidFill>
              </a:rPr>
              <a:t>inbound-defect fee contradicted by PRP-0014 · $4.75 weight-tier fee left SILENT, not claimed</a:t>
            </a:r>
            <a:endParaRPr lang="en-US" sz="2000" dirty="0"/>
          </a:p>
        </p:txBody>
      </p:sp>
      <p:sp>
        <p:nvSpPr>
          <p:cNvPr id="32" name="journey-caption-104"/>
          <p:cNvSpPr txBox="1"/>
          <p:nvPr/>
        </p:nvSpPr>
        <p:spPr>
          <a:xfrm>
            <a:off x="548640" y="5870448"/>
            <a:ext cx="11094415" cy="310896"/>
          </a:xfrm>
          <a:prstGeom prst="rect">
            <a:avLst/>
          </a:prstGeom>
          <a:noFill/>
          <a:ln/>
        </p:spPr>
        <p:txBody>
          <a:bodyPr wrap="square" lIns="0" tIns="0" rIns="0" bIns="0" rtlCol="0" anchor="t"/>
          <a:lstStyle/>
          <a:p>
            <a:pPr algn="l" indent="0" marL="0">
              <a:buNone/>
            </a:pPr>
            <a:r>
              <a:rPr lang="en-US" sz="1600" dirty="0">
                <a:solidFill>
                  <a:schemeClr val="tx2"/>
                </a:solidFill>
              </a:rPr>
              <a:t>This example replays the organisers' recorded evidence for the photo stages; our real Recovery agent decides.</a:t>
            </a:r>
            <a:endParaRPr lang="en-US" sz="1600" dirty="0"/>
          </a:p>
        </p:txBody>
      </p:sp>
      <p:sp>
        <p:nvSpPr>
          <p:cNvPr id="25" name="Slide Number Placeholder 0"/>
          <p:cNvSpPr>
            <a:spLocks noGrp="1"/>
          </p:cNvSpPr>
          <p:nvPr>
            <p:ph type="sldNum" sz="quarter" idx="4294967295"/>
          </p:nvPr>
        </p:nvSpPr>
        <p:spPr>
          <a:xfrm>
            <a:off x="11000232" y="638251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65760"/>
          </a:xfrm>
          <a:prstGeom prst="rect">
            <a:avLst/>
          </a:prstGeom>
          <a:noFill/>
          <a:ln/>
        </p:spPr>
        <p:txBody>
          <a:bodyPr wrap="square" lIns="0" tIns="0" rIns="0" bIns="0" rtlCol="0" anchor="t"/>
          <a:lstStyle/>
          <a:p>
            <a:pPr algn="l" indent="0" marL="0">
              <a:buNone/>
            </a:pPr>
            <a:r>
              <a:rPr lang="en-US" sz="1600" b="1" dirty="0">
                <a:solidFill>
                  <a:schemeClr val="accent1"/>
                </a:solidFill>
              </a:rPr>
              <a:t>ORCHESTRATION &amp; DECISION QUALITY · 25</a:t>
            </a:r>
            <a:endParaRPr lang="en-US" sz="1600" dirty="0"/>
          </a:p>
        </p:txBody>
      </p:sp>
      <p:sp>
        <p:nvSpPr>
          <p:cNvPr id="3" name="Text 0"/>
          <p:cNvSpPr/>
          <p:nvPr>
            <p:ph idx="101" type="title" hasCustomPrompt="1"/>
          </p:nvPr>
        </p:nvSpPr>
        <p:spPr>
          <a:xfrm>
            <a:off x="548640" y="713232"/>
            <a:ext cx="11094415" cy="777240"/>
          </a:xfrm>
          <a:prstGeom prst="rect">
            <a:avLst/>
          </a:prstGeom>
          <a:noFill/>
          <a:ln/>
        </p:spPr>
        <p:txBody>
          <a:bodyPr wrap="square" lIns="0" tIns="0" rIns="0" bIns="0" rtlCol="0" anchor="t"/>
          <a:lstStyle/>
          <a:p>
            <a:pPr algn="l" indent="0" marL="0">
              <a:buNone/>
            </a:pPr>
            <a:r>
              <a:rPr lang="en-US" sz="3800" b="1" dirty="0">
                <a:solidFill>
                  <a:schemeClr val="tx1"/>
                </a:solidFill>
              </a:rPr>
              <a:t>Routing is data; status is derived</a:t>
            </a:r>
            <a:endParaRPr lang="en-US" sz="3800" dirty="0"/>
          </a:p>
        </p:txBody>
      </p:sp>
      <p:sp>
        <p:nvSpPr>
          <p:cNvPr id="4" name="route-box-105"/>
          <p:cNvSpPr txBox="1"/>
          <p:nvPr/>
        </p:nvSpPr>
        <p:spPr>
          <a:xfrm>
            <a:off x="548640" y="2084832"/>
            <a:ext cx="1737360" cy="804672"/>
          </a:xfrm>
          <a:prstGeom prst="roundRect">
            <a:avLst>
              <a:gd name="adj" fmla="val 11364"/>
            </a:avLst>
          </a:prstGeom>
          <a:solidFill>
            <a:schemeClr val="bg1"/>
          </a:solidFill>
          <a:ln w="25400">
            <a:solidFill>
              <a:schemeClr val="tx1"/>
            </a:solidFill>
          </a:ln>
        </p:spPr>
        <p:txBody>
          <a:bodyPr wrap="square" lIns="50800" tIns="25400" rIns="50800" bIns="25400" rtlCol="0" anchor="ctr"/>
          <a:lstStyle/>
          <a:p>
            <a:pPr algn="ctr" indent="0" marL="0">
              <a:buNone/>
            </a:pPr>
            <a:r>
              <a:rPr lang="en-US" sz="2000" b="1" dirty="0">
                <a:solidFill>
                  <a:schemeClr val="tx1"/>
                </a:solidFill>
              </a:rPr>
              <a:t>Receiving</a:t>
            </a:r>
            <a:endParaRPr lang="en-US" sz="2000" dirty="0"/>
          </a:p>
        </p:txBody>
      </p:sp>
      <p:sp>
        <p:nvSpPr>
          <p:cNvPr id="5" name="route-prep-106"/>
          <p:cNvSpPr txBox="1"/>
          <p:nvPr/>
        </p:nvSpPr>
        <p:spPr>
          <a:xfrm>
            <a:off x="2697480" y="1783080"/>
            <a:ext cx="2148840" cy="621792"/>
          </a:xfrm>
          <a:prstGeom prst="roundRect">
            <a:avLst>
              <a:gd name="adj" fmla="val 14706"/>
            </a:avLst>
          </a:prstGeom>
          <a:solidFill>
            <a:schemeClr val="bg1"/>
          </a:solidFill>
          <a:ln w="25400">
            <a:solidFill>
              <a:schemeClr val="tx1"/>
            </a:solidFill>
          </a:ln>
        </p:spPr>
        <p:txBody>
          <a:bodyPr wrap="square" lIns="50800" tIns="25400" rIns="50800" bIns="25400" rtlCol="0" anchor="ctr"/>
          <a:lstStyle/>
          <a:p>
            <a:pPr algn="ctr" indent="0" marL="0">
              <a:buNone/>
            </a:pPr>
            <a:r>
              <a:rPr lang="en-US" sz="2000" b="1" dirty="0">
                <a:solidFill>
                  <a:schemeClr val="tx1"/>
                </a:solidFill>
              </a:rPr>
              <a:t>Prep</a:t>
            </a:r>
            <a:pPr algn="ctr" indent="0" marL="0">
              <a:buNone/>
            </a:pPr>
            <a:r>
              <a:rPr lang="en-US" sz="2000" dirty="0">
                <a:solidFill>
                  <a:schemeClr val="tx1"/>
                </a:solidFill>
              </a:rPr>
              <a:t>  · FBA</a:t>
            </a:r>
            <a:endParaRPr lang="en-US" sz="2000" dirty="0"/>
          </a:p>
        </p:txBody>
      </p:sp>
      <p:sp>
        <p:nvSpPr>
          <p:cNvPr id="6" name="route-pack-107"/>
          <p:cNvSpPr txBox="1"/>
          <p:nvPr/>
        </p:nvSpPr>
        <p:spPr>
          <a:xfrm>
            <a:off x="2697480" y="2569464"/>
            <a:ext cx="2148840" cy="621792"/>
          </a:xfrm>
          <a:prstGeom prst="roundRect">
            <a:avLst>
              <a:gd name="adj" fmla="val 14706"/>
            </a:avLst>
          </a:prstGeom>
          <a:solidFill>
            <a:schemeClr val="bg1"/>
          </a:solidFill>
          <a:ln w="25400">
            <a:solidFill>
              <a:schemeClr val="tx1"/>
            </a:solidFill>
          </a:ln>
        </p:spPr>
        <p:txBody>
          <a:bodyPr wrap="square" lIns="50800" tIns="25400" rIns="50800" bIns="25400" rtlCol="0" anchor="ctr"/>
          <a:lstStyle/>
          <a:p>
            <a:pPr algn="ctr" indent="0" marL="0">
              <a:buNone/>
            </a:pPr>
            <a:r>
              <a:rPr lang="en-US" sz="2000" b="1" dirty="0">
                <a:solidFill>
                  <a:schemeClr val="tx1"/>
                </a:solidFill>
              </a:rPr>
              <a:t>Pack</a:t>
            </a:r>
            <a:pPr algn="ctr" indent="0" marL="0">
              <a:buNone/>
            </a:pPr>
            <a:r>
              <a:rPr lang="en-US" sz="2000" dirty="0">
                <a:solidFill>
                  <a:schemeClr val="tx1"/>
                </a:solidFill>
              </a:rPr>
              <a:t>  · MFN</a:t>
            </a:r>
            <a:endParaRPr lang="en-US" sz="2000" dirty="0"/>
          </a:p>
        </p:txBody>
      </p:sp>
      <p:sp>
        <p:nvSpPr>
          <p:cNvPr id="7" name="line-108"/>
          <p:cNvSpPr/>
          <p:nvPr/>
        </p:nvSpPr>
        <p:spPr>
          <a:xfrm flipV="1">
            <a:off x="2286000" y="2093976"/>
            <a:ext cx="411480" cy="393192"/>
          </a:xfrm>
          <a:prstGeom prst="line">
            <a:avLst/>
          </a:prstGeom>
          <a:noFill/>
          <a:ln w="25400">
            <a:solidFill>
              <a:schemeClr val="tx1"/>
            </a:solidFill>
            <a:prstDash val="solid"/>
            <a:tailEnd type="triangle"/>
          </a:ln>
        </p:spPr>
      </p:sp>
      <p:sp>
        <p:nvSpPr>
          <p:cNvPr id="8" name="line-109"/>
          <p:cNvSpPr/>
          <p:nvPr/>
        </p:nvSpPr>
        <p:spPr>
          <a:xfrm>
            <a:off x="2286000" y="2487168"/>
            <a:ext cx="411480" cy="393192"/>
          </a:xfrm>
          <a:prstGeom prst="line">
            <a:avLst/>
          </a:prstGeom>
          <a:noFill/>
          <a:ln w="25400">
            <a:solidFill>
              <a:schemeClr val="tx1"/>
            </a:solidFill>
            <a:prstDash val="solid"/>
            <a:tailEnd type="triangle"/>
          </a:ln>
        </p:spPr>
      </p:sp>
      <p:sp>
        <p:nvSpPr>
          <p:cNvPr id="9" name="route-returns-110"/>
          <p:cNvSpPr txBox="1"/>
          <p:nvPr/>
        </p:nvSpPr>
        <p:spPr>
          <a:xfrm>
            <a:off x="5257800" y="2084832"/>
            <a:ext cx="2240280" cy="804672"/>
          </a:xfrm>
          <a:prstGeom prst="roundRect">
            <a:avLst>
              <a:gd name="adj" fmla="val 11364"/>
            </a:avLst>
          </a:prstGeom>
          <a:solidFill>
            <a:schemeClr val="bg1"/>
          </a:solidFill>
          <a:ln w="25400">
            <a:solidFill>
              <a:schemeClr val="tx1"/>
            </a:solidFill>
            <a:prstDash val="dash"/>
          </a:ln>
        </p:spPr>
        <p:txBody>
          <a:bodyPr wrap="square" lIns="50800" tIns="25400" rIns="50800" bIns="25400" rtlCol="0" anchor="ctr"/>
          <a:lstStyle/>
          <a:p>
            <a:pPr algn="ctr" indent="0" marL="0">
              <a:buNone/>
            </a:pPr>
            <a:r>
              <a:rPr lang="en-US" sz="2000" b="1" dirty="0">
                <a:solidFill>
                  <a:schemeClr val="tx1"/>
                </a:solidFill>
              </a:rPr>
              <a:t>Returns</a:t>
            </a:r>
            <a:endParaRPr lang="en-US" sz="2000" dirty="0"/>
          </a:p>
          <a:p>
            <a:pPr algn="ctr" indent="0" marL="0">
              <a:buNone/>
            </a:pPr>
            <a:r>
              <a:rPr lang="en-US" sz="1800" dirty="0">
                <a:solidFill>
                  <a:schemeClr val="tx1"/>
                </a:solidFill>
              </a:rPr>
              <a:t>only if returned</a:t>
            </a:r>
            <a:endParaRPr lang="en-US" sz="2000" dirty="0"/>
          </a:p>
        </p:txBody>
      </p:sp>
      <p:sp>
        <p:nvSpPr>
          <p:cNvPr id="10" name="line-111"/>
          <p:cNvSpPr/>
          <p:nvPr/>
        </p:nvSpPr>
        <p:spPr>
          <a:xfrm>
            <a:off x="4846320" y="2093976"/>
            <a:ext cx="411480" cy="393192"/>
          </a:xfrm>
          <a:prstGeom prst="line">
            <a:avLst/>
          </a:prstGeom>
          <a:noFill/>
          <a:ln w="25400">
            <a:solidFill>
              <a:schemeClr val="tx1"/>
            </a:solidFill>
            <a:prstDash val="solid"/>
            <a:tailEnd type="triangle"/>
          </a:ln>
        </p:spPr>
      </p:sp>
      <p:sp>
        <p:nvSpPr>
          <p:cNvPr id="11" name="line-112"/>
          <p:cNvSpPr/>
          <p:nvPr/>
        </p:nvSpPr>
        <p:spPr>
          <a:xfrm flipV="1">
            <a:off x="4846320" y="2487168"/>
            <a:ext cx="411480" cy="393192"/>
          </a:xfrm>
          <a:prstGeom prst="line">
            <a:avLst/>
          </a:prstGeom>
          <a:noFill/>
          <a:ln w="25400">
            <a:solidFill>
              <a:schemeClr val="tx1"/>
            </a:solidFill>
            <a:prstDash val="solid"/>
            <a:tailEnd type="triangle"/>
          </a:ln>
        </p:spPr>
      </p:sp>
      <p:sp>
        <p:nvSpPr>
          <p:cNvPr id="12" name="line-113"/>
          <p:cNvSpPr/>
          <p:nvPr/>
        </p:nvSpPr>
        <p:spPr>
          <a:xfrm>
            <a:off x="7498080" y="2487168"/>
            <a:ext cx="365760" cy="0"/>
          </a:xfrm>
          <a:prstGeom prst="line">
            <a:avLst/>
          </a:prstGeom>
          <a:noFill/>
          <a:ln w="25400">
            <a:solidFill>
              <a:schemeClr val="tx1"/>
            </a:solidFill>
            <a:prstDash val="solid"/>
            <a:tailEnd type="triangle"/>
          </a:ln>
        </p:spPr>
      </p:sp>
      <p:sp>
        <p:nvSpPr>
          <p:cNvPr id="13" name="route-box-114"/>
          <p:cNvSpPr txBox="1"/>
          <p:nvPr/>
        </p:nvSpPr>
        <p:spPr>
          <a:xfrm>
            <a:off x="7863840" y="2084832"/>
            <a:ext cx="1737360" cy="804672"/>
          </a:xfrm>
          <a:prstGeom prst="roundRect">
            <a:avLst>
              <a:gd name="adj" fmla="val 11364"/>
            </a:avLst>
          </a:prstGeom>
          <a:solidFill>
            <a:schemeClr val="bg1"/>
          </a:solidFill>
          <a:ln w="25400">
            <a:solidFill>
              <a:schemeClr val="tx1"/>
            </a:solidFill>
          </a:ln>
        </p:spPr>
        <p:txBody>
          <a:bodyPr wrap="square" lIns="50800" tIns="25400" rIns="50800" bIns="25400" rtlCol="0" anchor="ctr"/>
          <a:lstStyle/>
          <a:p>
            <a:pPr algn="ctr" indent="0" marL="0">
              <a:buNone/>
            </a:pPr>
            <a:r>
              <a:rPr lang="en-US" sz="2000" b="1" dirty="0">
                <a:solidFill>
                  <a:schemeClr val="tx1"/>
                </a:solidFill>
              </a:rPr>
              <a:t>Recovery</a:t>
            </a:r>
            <a:endParaRPr lang="en-US" sz="2000" dirty="0"/>
          </a:p>
        </p:txBody>
      </p:sp>
      <p:sp>
        <p:nvSpPr>
          <p:cNvPr id="14" name="line-115"/>
          <p:cNvSpPr/>
          <p:nvPr/>
        </p:nvSpPr>
        <p:spPr>
          <a:xfrm>
            <a:off x="9601200" y="2487168"/>
            <a:ext cx="365760" cy="0"/>
          </a:xfrm>
          <a:prstGeom prst="line">
            <a:avLst/>
          </a:prstGeom>
          <a:noFill/>
          <a:ln w="25400">
            <a:solidFill>
              <a:schemeClr val="tx1"/>
            </a:solidFill>
            <a:prstDash val="solid"/>
            <a:tailEnd type="triangle"/>
          </a:ln>
        </p:spPr>
      </p:sp>
      <p:sp>
        <p:nvSpPr>
          <p:cNvPr id="15" name="route-box-116"/>
          <p:cNvSpPr txBox="1"/>
          <p:nvPr/>
        </p:nvSpPr>
        <p:spPr>
          <a:xfrm>
            <a:off x="9966960" y="2084832"/>
            <a:ext cx="1676095" cy="804672"/>
          </a:xfrm>
          <a:prstGeom prst="roundRect">
            <a:avLst>
              <a:gd name="adj" fmla="val 11364"/>
            </a:avLst>
          </a:prstGeom>
          <a:solidFill>
            <a:schemeClr val="accent1"/>
          </a:solidFill>
          <a:ln>
            <a:solidFill>
              <a:schemeClr val="accent1"/>
            </a:solidFill>
          </a:ln>
        </p:spPr>
        <p:txBody>
          <a:bodyPr wrap="square" lIns="50800" tIns="25400" rIns="50800" bIns="25400" rtlCol="0" anchor="ctr"/>
          <a:lstStyle/>
          <a:p>
            <a:pPr algn="ctr" indent="0" marL="0">
              <a:buNone/>
            </a:pPr>
            <a:r>
              <a:rPr lang="en-US" sz="2000" b="1" dirty="0">
                <a:solidFill>
                  <a:schemeClr val="bg1"/>
                </a:solidFill>
              </a:rPr>
              <a:t>Outcome</a:t>
            </a:r>
            <a:endParaRPr lang="en-US" sz="2000" dirty="0"/>
          </a:p>
        </p:txBody>
      </p:sp>
      <p:sp>
        <p:nvSpPr>
          <p:cNvPr id="16" name="route-caption-117"/>
          <p:cNvSpPr txBox="1"/>
          <p:nvPr/>
        </p:nvSpPr>
        <p:spPr>
          <a:xfrm>
            <a:off x="548640" y="3310128"/>
            <a:ext cx="11094415" cy="310896"/>
          </a:xfrm>
          <a:prstGeom prst="rect">
            <a:avLst/>
          </a:prstGeom>
          <a:noFill/>
          <a:ln/>
        </p:spPr>
        <p:txBody>
          <a:bodyPr wrap="square" lIns="0" tIns="0" rIns="0" bIns="0" rtlCol="0" anchor="t"/>
          <a:lstStyle/>
          <a:p>
            <a:pPr algn="l" indent="0" marL="0">
              <a:buNone/>
            </a:pPr>
            <a:r>
              <a:rPr lang="en-US" sz="1600" dirty="0">
                <a:solidFill>
                  <a:schemeClr val="tx2"/>
                </a:solidFill>
              </a:rPr>
              <a:t>flow.json: 1 retry per stage · on UNCERTAIN or error, continue so Recovery sees the whole chain</a:t>
            </a:r>
            <a:endParaRPr lang="en-US" sz="1600" dirty="0"/>
          </a:p>
        </p:txBody>
      </p:sp>
      <p:sp>
        <p:nvSpPr>
          <p:cNvPr id="17" name="status-strip-118"/>
          <p:cNvSpPr txBox="1"/>
          <p:nvPr/>
        </p:nvSpPr>
        <p:spPr>
          <a:xfrm>
            <a:off x="548640" y="3675888"/>
            <a:ext cx="11094415" cy="438912"/>
          </a:xfrm>
          <a:prstGeom prst="roundRect">
            <a:avLst>
              <a:gd name="adj" fmla="val 20833"/>
            </a:avLst>
          </a:prstGeom>
          <a:solidFill>
            <a:schemeClr val="accent3"/>
          </a:solidFill>
          <a:ln>
            <a:solidFill>
              <a:schemeClr val="accent3"/>
            </a:solidFill>
          </a:ln>
        </p:spPr>
        <p:txBody>
          <a:bodyPr wrap="square" lIns="177800" tIns="25400" rIns="127000" bIns="25400" rtlCol="0" anchor="ctr"/>
          <a:lstStyle/>
          <a:p>
            <a:pPr algn="l" indent="0" marL="0">
              <a:buNone/>
            </a:pPr>
            <a:r>
              <a:rPr lang="en-US" sz="1800" b="1" dirty="0">
                <a:solidFill>
                  <a:schemeClr val="accent1"/>
                </a:solidFill>
              </a:rPr>
              <a:t>Workflow status   </a:t>
            </a:r>
            <a:pPr algn="l" indent="0" marL="0">
              <a:buNone/>
            </a:pPr>
            <a:r>
              <a:rPr lang="en-US" sz="1800" b="1" dirty="0">
                <a:solidFill>
                  <a:schemeClr val="tx1"/>
                </a:solidFill>
              </a:rPr>
              <a:t>PENDING → IN_PROGRESS → COMPLETED</a:t>
            </a:r>
            <a:pPr algn="l" indent="0" marL="0">
              <a:buNone/>
            </a:pPr>
            <a:r>
              <a:rPr lang="en-US" sz="1800" dirty="0">
                <a:solidFill>
                  <a:schemeClr val="tx1"/>
                </a:solidFill>
              </a:rPr>
              <a:t>   or   </a:t>
            </a:r>
            <a:pPr algn="l" indent="0" marL="0">
              <a:buNone/>
            </a:pPr>
            <a:r>
              <a:rPr lang="en-US" sz="1800" b="1" dirty="0">
                <a:solidFill>
                  <a:schemeClr val="tx1"/>
                </a:solidFill>
              </a:rPr>
              <a:t>BLOCKED · FAILED · RECOVERY_REQUIRED</a:t>
            </a:r>
            <a:endParaRPr lang="en-US" sz="1800" dirty="0"/>
          </a:p>
        </p:txBody>
      </p:sp>
      <p:sp>
        <p:nvSpPr>
          <p:cNvPr id="18" name="rule-card-119"/>
          <p:cNvSpPr txBox="1"/>
          <p:nvPr/>
        </p:nvSpPr>
        <p:spPr>
          <a:xfrm>
            <a:off x="548640" y="4370832"/>
            <a:ext cx="3520440" cy="1828800"/>
          </a:xfrm>
          <a:prstGeom prst="roundRect">
            <a:avLst>
              <a:gd name="adj" fmla="val 5000"/>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19" name="rule-word-120"/>
          <p:cNvSpPr txBox="1"/>
          <p:nvPr/>
        </p:nvSpPr>
        <p:spPr>
          <a:xfrm>
            <a:off x="777240" y="4507992"/>
            <a:ext cx="3154680" cy="502920"/>
          </a:xfrm>
          <a:prstGeom prst="rect">
            <a:avLst/>
          </a:prstGeom>
          <a:noFill/>
          <a:ln/>
        </p:spPr>
        <p:txBody>
          <a:bodyPr wrap="square" lIns="0" tIns="0" rIns="0" bIns="0" rtlCol="0" anchor="t"/>
          <a:lstStyle/>
          <a:p>
            <a:pPr algn="l" indent="0" marL="0">
              <a:buNone/>
            </a:pPr>
            <a:r>
              <a:rPr lang="en-US" sz="3200" b="1" dirty="0">
                <a:solidFill>
                  <a:schemeClr val="accent1"/>
                </a:solidFill>
                <a:latin typeface="+mj-lt" pitchFamily="34" charset="0"/>
                <a:ea typeface="+mj-lt" pitchFamily="34" charset="-122"/>
                <a:cs typeface="+mj-lt" pitchFamily="34" charset="-120"/>
              </a:rPr>
              <a:t>UNCERTAIN</a:t>
            </a:r>
            <a:endParaRPr lang="en-US" sz="3200" dirty="0"/>
          </a:p>
        </p:txBody>
      </p:sp>
      <p:sp>
        <p:nvSpPr>
          <p:cNvPr id="20" name="rule-rule-121"/>
          <p:cNvSpPr txBox="1"/>
          <p:nvPr/>
        </p:nvSpPr>
        <p:spPr>
          <a:xfrm>
            <a:off x="777240" y="5029200"/>
            <a:ext cx="3154680" cy="365760"/>
          </a:xfrm>
          <a:prstGeom prst="rect">
            <a:avLst/>
          </a:prstGeom>
          <a:noFill/>
          <a:ln/>
        </p:spPr>
        <p:txBody>
          <a:bodyPr wrap="square" lIns="0" tIns="0" rIns="0" bIns="0" rtlCol="0" anchor="t"/>
          <a:lstStyle/>
          <a:p>
            <a:pPr algn="l" indent="0" marL="0">
              <a:buNone/>
            </a:pPr>
            <a:r>
              <a:rPr lang="en-US" sz="2000" b="1" dirty="0">
                <a:solidFill>
                  <a:schemeClr val="tx1"/>
                </a:solidFill>
              </a:rPr>
              <a:t>is never turned into PASS</a:t>
            </a:r>
            <a:endParaRPr lang="en-US" sz="2000" dirty="0"/>
          </a:p>
        </p:txBody>
      </p:sp>
      <p:sp>
        <p:nvSpPr>
          <p:cNvPr id="21" name="rule-how-122"/>
          <p:cNvSpPr txBox="1"/>
          <p:nvPr/>
        </p:nvSpPr>
        <p:spPr>
          <a:xfrm>
            <a:off x="777240" y="5413248"/>
            <a:ext cx="3154680" cy="685800"/>
          </a:xfrm>
          <a:prstGeom prst="rect">
            <a:avLst/>
          </a:prstGeom>
          <a:noFill/>
          <a:ln/>
        </p:spPr>
        <p:txBody>
          <a:bodyPr wrap="square" lIns="0" tIns="0" rIns="0" bIns="0" rtlCol="0" anchor="t"/>
          <a:lstStyle/>
          <a:p>
            <a:pPr algn="l" indent="0" marL="0">
              <a:buNone/>
            </a:pPr>
            <a:r>
              <a:rPr lang="en-US" sz="2000" dirty="0">
                <a:solidFill>
                  <a:schemeClr val="tx1"/>
                </a:solidFill>
              </a:rPr>
              <a:t>BLOCKED → review queue → a person decides</a:t>
            </a:r>
            <a:endParaRPr lang="en-US" sz="2000" dirty="0"/>
          </a:p>
        </p:txBody>
      </p:sp>
      <p:sp>
        <p:nvSpPr>
          <p:cNvPr id="22" name="rule-card-123"/>
          <p:cNvSpPr txBox="1"/>
          <p:nvPr/>
        </p:nvSpPr>
        <p:spPr>
          <a:xfrm>
            <a:off x="4335628" y="4370832"/>
            <a:ext cx="3520440" cy="1828800"/>
          </a:xfrm>
          <a:prstGeom prst="roundRect">
            <a:avLst>
              <a:gd name="adj" fmla="val 5000"/>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23" name="rule-word-124"/>
          <p:cNvSpPr txBox="1"/>
          <p:nvPr/>
        </p:nvSpPr>
        <p:spPr>
          <a:xfrm>
            <a:off x="4564228" y="4507992"/>
            <a:ext cx="3154680" cy="502920"/>
          </a:xfrm>
          <a:prstGeom prst="rect">
            <a:avLst/>
          </a:prstGeom>
          <a:noFill/>
          <a:ln/>
        </p:spPr>
        <p:txBody>
          <a:bodyPr wrap="square" lIns="0" tIns="0" rIns="0" bIns="0" rtlCol="0" anchor="t"/>
          <a:lstStyle/>
          <a:p>
            <a:pPr algn="l" indent="0" marL="0">
              <a:buNone/>
            </a:pPr>
            <a:r>
              <a:rPr lang="en-US" sz="3200" b="1" dirty="0">
                <a:solidFill>
                  <a:schemeClr val="accent1"/>
                </a:solidFill>
                <a:latin typeface="+mj-lt" pitchFamily="34" charset="0"/>
                <a:ea typeface="+mj-lt" pitchFamily="34" charset="-122"/>
                <a:cs typeface="+mj-lt" pitchFamily="34" charset="-120"/>
              </a:rPr>
              <a:t>SILENT</a:t>
            </a:r>
            <a:endParaRPr lang="en-US" sz="3200" dirty="0"/>
          </a:p>
        </p:txBody>
      </p:sp>
      <p:sp>
        <p:nvSpPr>
          <p:cNvPr id="24" name="rule-rule-125"/>
          <p:cNvSpPr txBox="1"/>
          <p:nvPr/>
        </p:nvSpPr>
        <p:spPr>
          <a:xfrm>
            <a:off x="4564228" y="5029200"/>
            <a:ext cx="3154680" cy="365760"/>
          </a:xfrm>
          <a:prstGeom prst="rect">
            <a:avLst/>
          </a:prstGeom>
          <a:noFill/>
          <a:ln/>
        </p:spPr>
        <p:txBody>
          <a:bodyPr wrap="square" lIns="0" tIns="0" rIns="0" bIns="0" rtlCol="0" anchor="t"/>
          <a:lstStyle/>
          <a:p>
            <a:pPr algn="l" indent="0" marL="0">
              <a:buNone/>
            </a:pPr>
            <a:r>
              <a:rPr lang="en-US" sz="2000" b="1" dirty="0">
                <a:solidFill>
                  <a:schemeClr val="tx1"/>
                </a:solidFill>
              </a:rPr>
              <a:t>is never a claim</a:t>
            </a:r>
            <a:endParaRPr lang="en-US" sz="2000" dirty="0"/>
          </a:p>
        </p:txBody>
      </p:sp>
      <p:sp>
        <p:nvSpPr>
          <p:cNvPr id="25" name="rule-how-126"/>
          <p:cNvSpPr txBox="1"/>
          <p:nvPr/>
        </p:nvSpPr>
        <p:spPr>
          <a:xfrm>
            <a:off x="4564228" y="5413248"/>
            <a:ext cx="3154680" cy="685800"/>
          </a:xfrm>
          <a:prstGeom prst="rect">
            <a:avLst/>
          </a:prstGeom>
          <a:noFill/>
          <a:ln/>
        </p:spPr>
        <p:txBody>
          <a:bodyPr wrap="square" lIns="0" tIns="0" rIns="0" bIns="0" rtlCol="0" anchor="t"/>
          <a:lstStyle/>
          <a:p>
            <a:pPr algn="l" indent="0" marL="0">
              <a:buNone/>
            </a:pPr>
            <a:r>
              <a:rPr lang="en-US" sz="2000" dirty="0">
                <a:solidFill>
                  <a:schemeClr val="tx1"/>
                </a:solidFill>
              </a:rPr>
              <a:t>a claim needs evidence that contradicts the fee</a:t>
            </a:r>
            <a:endParaRPr lang="en-US" sz="2000" dirty="0"/>
          </a:p>
        </p:txBody>
      </p:sp>
      <p:sp>
        <p:nvSpPr>
          <p:cNvPr id="26" name="rule-card-127"/>
          <p:cNvSpPr txBox="1"/>
          <p:nvPr/>
        </p:nvSpPr>
        <p:spPr>
          <a:xfrm>
            <a:off x="8122615" y="4370832"/>
            <a:ext cx="3520440" cy="1828800"/>
          </a:xfrm>
          <a:prstGeom prst="roundRect">
            <a:avLst>
              <a:gd name="adj" fmla="val 5000"/>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27" name="rule-word-128"/>
          <p:cNvSpPr txBox="1"/>
          <p:nvPr/>
        </p:nvSpPr>
        <p:spPr>
          <a:xfrm>
            <a:off x="8351215" y="4507992"/>
            <a:ext cx="3154680" cy="502920"/>
          </a:xfrm>
          <a:prstGeom prst="rect">
            <a:avLst/>
          </a:prstGeom>
          <a:noFill/>
          <a:ln/>
        </p:spPr>
        <p:txBody>
          <a:bodyPr wrap="square" lIns="0" tIns="0" rIns="0" bIns="0" rtlCol="0" anchor="t"/>
          <a:lstStyle/>
          <a:p>
            <a:pPr algn="l" indent="0" marL="0">
              <a:buNone/>
            </a:pPr>
            <a:r>
              <a:rPr lang="en-US" sz="3200" b="1" dirty="0">
                <a:solidFill>
                  <a:schemeClr val="accent1"/>
                </a:solidFill>
                <a:latin typeface="+mj-lt" pitchFamily="34" charset="0"/>
                <a:ea typeface="+mj-lt" pitchFamily="34" charset="-122"/>
                <a:cs typeface="+mj-lt" pitchFamily="34" charset="-120"/>
              </a:rPr>
              <a:t>FAILED</a:t>
            </a:r>
            <a:endParaRPr lang="en-US" sz="3200" dirty="0"/>
          </a:p>
        </p:txBody>
      </p:sp>
      <p:sp>
        <p:nvSpPr>
          <p:cNvPr id="28" name="rule-rule-129"/>
          <p:cNvSpPr txBox="1"/>
          <p:nvPr/>
        </p:nvSpPr>
        <p:spPr>
          <a:xfrm>
            <a:off x="8351215" y="5029200"/>
            <a:ext cx="3154680" cy="365760"/>
          </a:xfrm>
          <a:prstGeom prst="rect">
            <a:avLst/>
          </a:prstGeom>
          <a:noFill/>
          <a:ln/>
        </p:spPr>
        <p:txBody>
          <a:bodyPr wrap="square" lIns="0" tIns="0" rIns="0" bIns="0" rtlCol="0" anchor="t"/>
          <a:lstStyle/>
          <a:p>
            <a:pPr algn="l" indent="0" marL="0">
              <a:buNone/>
            </a:pPr>
            <a:r>
              <a:rPr lang="en-US" sz="2000" b="1" dirty="0">
                <a:solidFill>
                  <a:schemeClr val="tx1"/>
                </a:solidFill>
              </a:rPr>
              <a:t>never becomes success</a:t>
            </a:r>
            <a:endParaRPr lang="en-US" sz="2000" dirty="0"/>
          </a:p>
        </p:txBody>
      </p:sp>
      <p:sp>
        <p:nvSpPr>
          <p:cNvPr id="29" name="rule-how-130"/>
          <p:cNvSpPr txBox="1"/>
          <p:nvPr/>
        </p:nvSpPr>
        <p:spPr>
          <a:xfrm>
            <a:off x="8351215" y="5413248"/>
            <a:ext cx="3154680" cy="685800"/>
          </a:xfrm>
          <a:prstGeom prst="rect">
            <a:avLst/>
          </a:prstGeom>
          <a:noFill/>
          <a:ln/>
        </p:spPr>
        <p:txBody>
          <a:bodyPr wrap="square" lIns="0" tIns="0" rIns="0" bIns="0" rtlCol="0" anchor="t"/>
          <a:lstStyle/>
          <a:p>
            <a:pPr algn="l" indent="0" marL="0">
              <a:buNone/>
            </a:pPr>
            <a:r>
              <a:rPr lang="en-US" sz="2000" dirty="0">
                <a:solidFill>
                  <a:schemeClr val="tx1"/>
                </a:solidFill>
              </a:rPr>
              <a:t>error recorded on the stage → INCOMPLETE → resume</a:t>
            </a:r>
            <a:endParaRPr lang="en-US" sz="2000" dirty="0"/>
          </a:p>
        </p:txBody>
      </p:sp>
      <p:sp>
        <p:nvSpPr>
          <p:cNvPr id="25" name="Slide Number Placeholder 0"/>
          <p:cNvSpPr>
            <a:spLocks noGrp="1"/>
          </p:cNvSpPr>
          <p:nvPr>
            <p:ph type="sldNum" sz="quarter" idx="4294967295"/>
          </p:nvPr>
        </p:nvSpPr>
        <p:spPr>
          <a:xfrm>
            <a:off x="11000232" y="638251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65760"/>
          </a:xfrm>
          <a:prstGeom prst="rect">
            <a:avLst/>
          </a:prstGeom>
          <a:noFill/>
          <a:ln/>
        </p:spPr>
        <p:txBody>
          <a:bodyPr wrap="square" lIns="0" tIns="0" rIns="0" bIns="0" rtlCol="0" anchor="t"/>
          <a:lstStyle/>
          <a:p>
            <a:pPr algn="l" indent="0" marL="0">
              <a:buNone/>
            </a:pPr>
            <a:r>
              <a:rPr lang="en-US" sz="1600" b="1" dirty="0">
                <a:solidFill>
                  <a:schemeClr val="accent1"/>
                </a:solidFill>
              </a:rPr>
              <a:t>EVIDENCE, TRACEABILITY &amp; RELIABILITY · 25</a:t>
            </a:r>
            <a:endParaRPr lang="en-US" sz="1600" dirty="0"/>
          </a:p>
        </p:txBody>
      </p:sp>
      <p:sp>
        <p:nvSpPr>
          <p:cNvPr id="3" name="Text 0"/>
          <p:cNvSpPr/>
          <p:nvPr>
            <p:ph idx="101" type="title" hasCustomPrompt="1"/>
          </p:nvPr>
        </p:nvSpPr>
        <p:spPr>
          <a:xfrm>
            <a:off x="548640" y="713232"/>
            <a:ext cx="11094415" cy="777240"/>
          </a:xfrm>
          <a:prstGeom prst="rect">
            <a:avLst/>
          </a:prstGeom>
          <a:noFill/>
          <a:ln/>
        </p:spPr>
        <p:txBody>
          <a:bodyPr wrap="square" lIns="0" tIns="0" rIns="0" bIns="0" rtlCol="0" anchor="t"/>
          <a:lstStyle/>
          <a:p>
            <a:pPr algn="l" indent="0" marL="0">
              <a:buNone/>
            </a:pPr>
            <a:r>
              <a:rPr lang="en-US" sz="3800" b="1" dirty="0">
                <a:solidFill>
                  <a:schemeClr val="tx1"/>
                </a:solidFill>
              </a:rPr>
              <a:t>Walk any outcome back to the photo</a:t>
            </a:r>
            <a:endParaRPr lang="en-US" sz="3800" dirty="0"/>
          </a:p>
        </p:txBody>
      </p:sp>
      <p:sp>
        <p:nvSpPr>
          <p:cNvPr id="4" name="trace-step-131"/>
          <p:cNvSpPr txBox="1"/>
          <p:nvPr/>
        </p:nvSpPr>
        <p:spPr>
          <a:xfrm>
            <a:off x="548640" y="1783080"/>
            <a:ext cx="4343400" cy="566928"/>
          </a:xfrm>
          <a:prstGeom prst="roundRect">
            <a:avLst>
              <a:gd name="adj" fmla="val 16129"/>
            </a:avLst>
          </a:prstGeom>
          <a:solidFill>
            <a:schemeClr val="accent1"/>
          </a:solidFill>
          <a:ln>
            <a:solidFill>
              <a:schemeClr val="accent1"/>
            </a:solidFill>
          </a:ln>
        </p:spPr>
        <p:txBody>
          <a:bodyPr wrap="square" lIns="177800" tIns="25400" rIns="101600" bIns="25400" rtlCol="0" anchor="ctr"/>
          <a:lstStyle/>
          <a:p>
            <a:pPr algn="l" indent="0" marL="0">
              <a:buNone/>
            </a:pPr>
            <a:r>
              <a:rPr lang="en-US" sz="2000" b="1" dirty="0">
                <a:solidFill>
                  <a:schemeClr val="bg1"/>
                </a:solidFill>
              </a:rPr>
              <a:t>Final outcome</a:t>
            </a:r>
            <a:endParaRPr lang="en-US" sz="2000" dirty="0"/>
          </a:p>
        </p:txBody>
      </p:sp>
      <p:sp>
        <p:nvSpPr>
          <p:cNvPr id="5" name="line-132"/>
          <p:cNvSpPr/>
          <p:nvPr/>
        </p:nvSpPr>
        <p:spPr>
          <a:xfrm>
            <a:off x="2720340" y="2350008"/>
            <a:ext cx="0" cy="274320"/>
          </a:xfrm>
          <a:prstGeom prst="line">
            <a:avLst/>
          </a:prstGeom>
          <a:noFill/>
          <a:ln w="31750">
            <a:solidFill>
              <a:schemeClr val="tx1"/>
            </a:solidFill>
            <a:prstDash val="solid"/>
            <a:tailEnd type="triangle"/>
          </a:ln>
        </p:spPr>
      </p:sp>
      <p:sp>
        <p:nvSpPr>
          <p:cNvPr id="6" name="trace-step-133"/>
          <p:cNvSpPr txBox="1"/>
          <p:nvPr/>
        </p:nvSpPr>
        <p:spPr>
          <a:xfrm>
            <a:off x="548640" y="2624328"/>
            <a:ext cx="4343400" cy="566928"/>
          </a:xfrm>
          <a:prstGeom prst="roundRect">
            <a:avLst>
              <a:gd name="adj" fmla="val 16129"/>
            </a:avLst>
          </a:prstGeom>
          <a:solidFill>
            <a:schemeClr val="bg2"/>
          </a:solidFill>
          <a:ln>
            <a:solidFill>
              <a:schemeClr val="bg2"/>
            </a:solidFill>
          </a:ln>
        </p:spPr>
        <p:txBody>
          <a:bodyPr wrap="square" lIns="177800" tIns="25400" rIns="101600" bIns="25400" rtlCol="0" anchor="ctr"/>
          <a:lstStyle/>
          <a:p>
            <a:pPr algn="l" indent="0" marL="0">
              <a:buNone/>
            </a:pPr>
            <a:r>
              <a:rPr lang="en-US" sz="2000" b="1" dirty="0">
                <a:solidFill>
                  <a:schemeClr val="tx1"/>
                </a:solidFill>
              </a:rPr>
              <a:t>contributing_records</a:t>
            </a:r>
            <a:endParaRPr lang="en-US" sz="2000" dirty="0"/>
          </a:p>
        </p:txBody>
      </p:sp>
      <p:sp>
        <p:nvSpPr>
          <p:cNvPr id="7" name="line-134"/>
          <p:cNvSpPr/>
          <p:nvPr/>
        </p:nvSpPr>
        <p:spPr>
          <a:xfrm>
            <a:off x="2720340" y="3191256"/>
            <a:ext cx="0" cy="274320"/>
          </a:xfrm>
          <a:prstGeom prst="line">
            <a:avLst/>
          </a:prstGeom>
          <a:noFill/>
          <a:ln w="31750">
            <a:solidFill>
              <a:schemeClr val="tx1"/>
            </a:solidFill>
            <a:prstDash val="solid"/>
            <a:tailEnd type="triangle"/>
          </a:ln>
        </p:spPr>
      </p:sp>
      <p:sp>
        <p:nvSpPr>
          <p:cNvPr id="8" name="trace-step-135"/>
          <p:cNvSpPr txBox="1"/>
          <p:nvPr/>
        </p:nvSpPr>
        <p:spPr>
          <a:xfrm>
            <a:off x="548640" y="3465576"/>
            <a:ext cx="4343400" cy="566928"/>
          </a:xfrm>
          <a:prstGeom prst="roundRect">
            <a:avLst>
              <a:gd name="adj" fmla="val 16129"/>
            </a:avLst>
          </a:prstGeom>
          <a:solidFill>
            <a:schemeClr val="bg2"/>
          </a:solidFill>
          <a:ln>
            <a:solidFill>
              <a:schemeClr val="bg2"/>
            </a:solidFill>
          </a:ln>
        </p:spPr>
        <p:txBody>
          <a:bodyPr wrap="square" lIns="177800" tIns="25400" rIns="101600" bIns="25400" rtlCol="0" anchor="ctr"/>
          <a:lstStyle/>
          <a:p>
            <a:pPr algn="l" indent="0" marL="0">
              <a:buNone/>
            </a:pPr>
            <a:r>
              <a:rPr lang="en-US" sz="2000" b="1" dirty="0">
                <a:solidFill>
                  <a:schemeClr val="tx1"/>
                </a:solidFill>
              </a:rPr>
              <a:t>checks</a:t>
            </a:r>
            <a:endParaRPr lang="en-US" sz="2000" dirty="0"/>
          </a:p>
        </p:txBody>
      </p:sp>
      <p:sp>
        <p:nvSpPr>
          <p:cNvPr id="9" name="line-136"/>
          <p:cNvSpPr/>
          <p:nvPr/>
        </p:nvSpPr>
        <p:spPr>
          <a:xfrm>
            <a:off x="2720340" y="4032504"/>
            <a:ext cx="0" cy="274320"/>
          </a:xfrm>
          <a:prstGeom prst="line">
            <a:avLst/>
          </a:prstGeom>
          <a:noFill/>
          <a:ln w="31750">
            <a:solidFill>
              <a:schemeClr val="tx1"/>
            </a:solidFill>
            <a:prstDash val="solid"/>
            <a:tailEnd type="triangle"/>
          </a:ln>
        </p:spPr>
      </p:sp>
      <p:sp>
        <p:nvSpPr>
          <p:cNvPr id="10" name="trace-step-137"/>
          <p:cNvSpPr txBox="1"/>
          <p:nvPr/>
        </p:nvSpPr>
        <p:spPr>
          <a:xfrm>
            <a:off x="548640" y="4306824"/>
            <a:ext cx="4343400" cy="566928"/>
          </a:xfrm>
          <a:prstGeom prst="roundRect">
            <a:avLst>
              <a:gd name="adj" fmla="val 16129"/>
            </a:avLst>
          </a:prstGeom>
          <a:solidFill>
            <a:schemeClr val="bg2"/>
          </a:solidFill>
          <a:ln>
            <a:solidFill>
              <a:schemeClr val="bg2"/>
            </a:solidFill>
          </a:ln>
        </p:spPr>
        <p:txBody>
          <a:bodyPr wrap="square" lIns="177800" tIns="25400" rIns="101600" bIns="25400" rtlCol="0" anchor="ctr"/>
          <a:lstStyle/>
          <a:p>
            <a:pPr algn="l" indent="0" marL="0">
              <a:buNone/>
            </a:pPr>
            <a:r>
              <a:rPr lang="en-US" sz="2000" b="1" dirty="0">
                <a:solidFill>
                  <a:schemeClr val="tx1"/>
                </a:solidFill>
              </a:rPr>
              <a:t>evidence_refs</a:t>
            </a:r>
            <a:endParaRPr lang="en-US" sz="2000" dirty="0"/>
          </a:p>
        </p:txBody>
      </p:sp>
      <p:sp>
        <p:nvSpPr>
          <p:cNvPr id="11" name="line-138"/>
          <p:cNvSpPr/>
          <p:nvPr/>
        </p:nvSpPr>
        <p:spPr>
          <a:xfrm>
            <a:off x="2720340" y="4873752"/>
            <a:ext cx="0" cy="274320"/>
          </a:xfrm>
          <a:prstGeom prst="line">
            <a:avLst/>
          </a:prstGeom>
          <a:noFill/>
          <a:ln w="31750">
            <a:solidFill>
              <a:schemeClr val="tx1"/>
            </a:solidFill>
            <a:prstDash val="solid"/>
            <a:tailEnd type="triangle"/>
          </a:ln>
        </p:spPr>
      </p:sp>
      <p:sp>
        <p:nvSpPr>
          <p:cNvPr id="12" name="trace-step-139"/>
          <p:cNvSpPr txBox="1"/>
          <p:nvPr/>
        </p:nvSpPr>
        <p:spPr>
          <a:xfrm>
            <a:off x="548640" y="5148072"/>
            <a:ext cx="4343400" cy="566928"/>
          </a:xfrm>
          <a:prstGeom prst="roundRect">
            <a:avLst>
              <a:gd name="adj" fmla="val 16129"/>
            </a:avLst>
          </a:prstGeom>
          <a:solidFill>
            <a:schemeClr val="tx1"/>
          </a:solidFill>
          <a:ln>
            <a:solidFill>
              <a:schemeClr val="tx1"/>
            </a:solidFill>
          </a:ln>
        </p:spPr>
        <p:txBody>
          <a:bodyPr wrap="square" lIns="177800" tIns="25400" rIns="101600" bIns="25400" rtlCol="0" anchor="ctr"/>
          <a:lstStyle/>
          <a:p>
            <a:pPr algn="l" indent="0" marL="0">
              <a:buNone/>
            </a:pPr>
            <a:r>
              <a:rPr lang="en-US" sz="2000" b="1" dirty="0">
                <a:solidFill>
                  <a:schemeClr val="bg1"/>
                </a:solidFill>
              </a:rPr>
              <a:t>inputs[].sha256 · the photo bytes</a:t>
            </a:r>
            <a:endParaRPr lang="en-US" sz="2000" dirty="0"/>
          </a:p>
        </p:txBody>
      </p:sp>
      <p:sp>
        <p:nvSpPr>
          <p:cNvPr id="13" name="trace-record-140"/>
          <p:cNvSpPr txBox="1"/>
          <p:nvPr/>
        </p:nvSpPr>
        <p:spPr>
          <a:xfrm>
            <a:off x="5349240" y="1783080"/>
            <a:ext cx="6293815" cy="1828800"/>
          </a:xfrm>
          <a:prstGeom prst="roundRect">
            <a:avLst>
              <a:gd name="adj" fmla="val 5000"/>
            </a:avLst>
          </a:prstGeom>
          <a:solidFill>
            <a:schemeClr val="bg2"/>
          </a:solidFill>
          <a:ln>
            <a:solidFill>
              <a:schemeClr val="bg2"/>
            </a:solidFill>
          </a:ln>
        </p:spPr>
        <p:txBody>
          <a:bodyPr wrap="square" lIns="203200" tIns="76200" rIns="127000" bIns="76200" rtlCol="0" anchor="ctr"/>
          <a:lstStyle/>
          <a:p>
            <a:pPr algn="l" indent="0" marL="0">
              <a:spcAft>
                <a:spcPts val="600"/>
              </a:spcAft>
              <a:buNone/>
            </a:pPr>
            <a:r>
              <a:rPr lang="en-US" sz="2200" b="1" dirty="0">
                <a:solidFill>
                  <a:schemeClr val="tx1"/>
                </a:solidFill>
              </a:rPr>
              <a:t>Evidence record  RCY-UNIT-0014</a:t>
            </a:r>
            <a:endParaRPr lang="en-US" sz="2000" dirty="0"/>
          </a:p>
          <a:p>
            <a:pPr algn="l" indent="0" marL="0">
              <a:spcAft>
                <a:spcPts val="600"/>
              </a:spcAft>
              <a:buNone/>
            </a:pPr>
            <a:r>
              <a:rPr lang="en-US" sz="2000" b="1" dirty="0">
                <a:solidFill>
                  <a:schemeClr val="accent1"/>
                </a:solidFill>
              </a:rPr>
              <a:t>upstream_refs  </a:t>
            </a:r>
            <a:pPr algn="l" indent="0" marL="0">
              <a:spcAft>
                <a:spcPts val="600"/>
              </a:spcAft>
              <a:buNone/>
            </a:pPr>
            <a:r>
              <a:rPr lang="en-US" sz="2000" dirty="0">
                <a:solidFill>
                  <a:schemeClr val="tx1"/>
                </a:solidFill>
              </a:rPr>
              <a:t>RCV-0014 · PRP-0014 · RTN-0014</a:t>
            </a:r>
            <a:endParaRPr lang="en-US" sz="2000" dirty="0"/>
          </a:p>
          <a:p>
            <a:pPr algn="l" indent="0" marL="0">
              <a:spcAft>
                <a:spcPts val="600"/>
              </a:spcAft>
              <a:buNone/>
            </a:pPr>
            <a:r>
              <a:rPr lang="en-US" sz="2000" b="1" dirty="0">
                <a:solidFill>
                  <a:schemeClr val="accent1"/>
                </a:solidFill>
              </a:rPr>
              <a:t>content_hash  </a:t>
            </a:r>
            <a:pPr algn="l" indent="0" marL="0">
              <a:spcAft>
                <a:spcPts val="600"/>
              </a:spcAft>
              <a:buNone/>
            </a:pPr>
            <a:r>
              <a:rPr lang="en-US" sz="2000" dirty="0">
                <a:solidFill>
                  <a:schemeClr val="tx1"/>
                </a:solidFill>
              </a:rPr>
              <a:t>SHA-256 of the record (40e46cc8…)</a:t>
            </a:r>
            <a:endParaRPr lang="en-US" sz="2000" dirty="0"/>
          </a:p>
          <a:p>
            <a:pPr algn="l" indent="0" marL="0">
              <a:spcAft>
                <a:spcPts val="600"/>
              </a:spcAft>
              <a:buNone/>
            </a:pPr>
            <a:r>
              <a:rPr lang="en-US" sz="2000" b="1" dirty="0">
                <a:solidFill>
                  <a:schemeClr val="accent1"/>
                </a:solidFill>
              </a:rPr>
              <a:t>also  </a:t>
            </a:r>
            <a:pPr algn="l" indent="0" marL="0">
              <a:spcAft>
                <a:spcPts val="600"/>
              </a:spcAft>
              <a:buNone/>
            </a:pPr>
            <a:r>
              <a:rPr lang="en-US" sz="2000" dirty="0">
                <a:solidFill>
                  <a:schemeClr val="tx1"/>
                </a:solidFill>
              </a:rPr>
              <a:t>model · version · calls · timestamps</a:t>
            </a:r>
            <a:endParaRPr lang="en-US" sz="2000" dirty="0"/>
          </a:p>
        </p:txBody>
      </p:sp>
      <p:sp>
        <p:nvSpPr>
          <p:cNvPr id="14" name="trace-override-141"/>
          <p:cNvSpPr txBox="1"/>
          <p:nvPr/>
        </p:nvSpPr>
        <p:spPr>
          <a:xfrm>
            <a:off x="5349240" y="3794760"/>
            <a:ext cx="6293815" cy="1920240"/>
          </a:xfrm>
          <a:prstGeom prst="roundRect">
            <a:avLst>
              <a:gd name="adj" fmla="val 4762"/>
            </a:avLst>
          </a:prstGeom>
          <a:solidFill>
            <a:schemeClr val="accent3"/>
          </a:solidFill>
          <a:ln>
            <a:solidFill>
              <a:schemeClr val="accent3"/>
            </a:solidFill>
          </a:ln>
        </p:spPr>
        <p:txBody>
          <a:bodyPr wrap="square" lIns="203200" tIns="76200" rIns="127000" bIns="76200" rtlCol="0" anchor="ctr"/>
          <a:lstStyle/>
          <a:p>
            <a:pPr algn="l" indent="0" marL="0">
              <a:spcAft>
                <a:spcPts val="600"/>
              </a:spcAft>
              <a:buNone/>
            </a:pPr>
            <a:r>
              <a:rPr lang="en-US" sz="2200" b="1" dirty="0">
                <a:solidFill>
                  <a:schemeClr val="tx1"/>
                </a:solidFill>
              </a:rPr>
              <a:t>Override, append-only</a:t>
            </a:r>
            <a:endParaRPr lang="en-US" sz="2000" dirty="0"/>
          </a:p>
          <a:p>
            <a:pPr algn="l" indent="0" marL="0">
              <a:spcAft>
                <a:spcPts val="600"/>
              </a:spcAft>
              <a:buNone/>
            </a:pPr>
            <a:r>
              <a:rPr lang="en-US" sz="2000" dirty="0">
                <a:solidFill>
                  <a:schemeClr val="tx1"/>
                </a:solidFill>
              </a:rPr>
              <a:t>Prep PASS → FAIL, with who, why and when</a:t>
            </a:r>
            <a:endParaRPr lang="en-US" sz="2000" dirty="0"/>
          </a:p>
          <a:p>
            <a:pPr algn="l" indent="0" marL="0">
              <a:spcAft>
                <a:spcPts val="600"/>
              </a:spcAft>
              <a:buNone/>
            </a:pPr>
            <a:r>
              <a:rPr lang="en-US" sz="2000" dirty="0">
                <a:solidFill>
                  <a:schemeClr val="tx1"/>
                </a:solidFill>
              </a:rPr>
              <a:t>supersedes PRP-0014; the original is kept</a:t>
            </a:r>
            <a:endParaRPr lang="en-US" sz="2000" dirty="0"/>
          </a:p>
          <a:p>
            <a:pPr algn="l" indent="0" marL="0">
              <a:spcAft>
                <a:spcPts val="600"/>
              </a:spcAft>
              <a:buNone/>
            </a:pPr>
            <a:r>
              <a:rPr lang="en-US" sz="2000" b="1" dirty="0">
                <a:solidFill>
                  <a:schemeClr val="accent1"/>
                </a:solidFill>
              </a:rPr>
              <a:t>Recovery re-runs → $2.00 claim withdrawn</a:t>
            </a:r>
            <a:endParaRPr lang="en-US" sz="2000" dirty="0"/>
          </a:p>
        </p:txBody>
      </p:sp>
      <p:sp>
        <p:nvSpPr>
          <p:cNvPr id="15" name="trace-caption-142"/>
          <p:cNvSpPr txBox="1"/>
          <p:nvPr/>
        </p:nvSpPr>
        <p:spPr>
          <a:xfrm>
            <a:off x="5349240" y="5833872"/>
            <a:ext cx="6293815" cy="365760"/>
          </a:xfrm>
          <a:prstGeom prst="rect">
            <a:avLst/>
          </a:prstGeom>
          <a:noFill/>
          <a:ln/>
        </p:spPr>
        <p:txBody>
          <a:bodyPr wrap="square" lIns="0" tIns="0" rIns="0" bIns="0" rtlCol="0" anchor="t"/>
          <a:lstStyle/>
          <a:p>
            <a:pPr algn="l" indent="0" marL="0">
              <a:buNone/>
            </a:pPr>
            <a:r>
              <a:rPr lang="en-US" sz="1600" dirty="0">
                <a:solidFill>
                  <a:schemeClr val="tx2"/>
                </a:solidFill>
              </a:rPr>
              <a:t>A content hash shows change; on its own it is not tamper-proof.</a:t>
            </a:r>
            <a:endParaRPr lang="en-US" sz="1600" dirty="0"/>
          </a:p>
        </p:txBody>
      </p:sp>
      <p:sp>
        <p:nvSpPr>
          <p:cNvPr id="25" name="Slide Number Placeholder 0"/>
          <p:cNvSpPr>
            <a:spLocks noGrp="1"/>
          </p:cNvSpPr>
          <p:nvPr>
            <p:ph type="sldNum" sz="quarter" idx="4294967295"/>
          </p:nvPr>
        </p:nvSpPr>
        <p:spPr>
          <a:xfrm>
            <a:off x="11000232" y="638251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65760"/>
          </a:xfrm>
          <a:prstGeom prst="rect">
            <a:avLst/>
          </a:prstGeom>
          <a:noFill/>
          <a:ln/>
        </p:spPr>
        <p:txBody>
          <a:bodyPr wrap="square" lIns="0" tIns="0" rIns="0" bIns="0" rtlCol="0" anchor="t"/>
          <a:lstStyle/>
          <a:p>
            <a:pPr algn="l" indent="0" marL="0">
              <a:buNone/>
            </a:pPr>
            <a:r>
              <a:rPr lang="en-US" sz="1600" b="1" dirty="0">
                <a:solidFill>
                  <a:schemeClr val="accent1"/>
                </a:solidFill>
              </a:rPr>
              <a:t>EVIDENCE, TRACEABILITY &amp; RELIABILITY · 25</a:t>
            </a:r>
            <a:endParaRPr lang="en-US" sz="1600" dirty="0"/>
          </a:p>
        </p:txBody>
      </p:sp>
      <p:sp>
        <p:nvSpPr>
          <p:cNvPr id="3" name="Text 0"/>
          <p:cNvSpPr/>
          <p:nvPr>
            <p:ph idx="101" type="title" hasCustomPrompt="1"/>
          </p:nvPr>
        </p:nvSpPr>
        <p:spPr>
          <a:xfrm>
            <a:off x="548640" y="713232"/>
            <a:ext cx="11094415" cy="777240"/>
          </a:xfrm>
          <a:prstGeom prst="rect">
            <a:avLst/>
          </a:prstGeom>
          <a:noFill/>
          <a:ln/>
        </p:spPr>
        <p:txBody>
          <a:bodyPr wrap="square" lIns="0" tIns="0" rIns="0" bIns="0" rtlCol="0" anchor="t"/>
          <a:lstStyle/>
          <a:p>
            <a:pPr algn="l" indent="0" marL="0">
              <a:buNone/>
            </a:pPr>
            <a:r>
              <a:rPr lang="en-US" sz="3800" b="1" dirty="0">
                <a:solidFill>
                  <a:schemeClr val="tx1"/>
                </a:solidFill>
              </a:rPr>
              <a:t>We broke it 2,500 times on purpose</a:t>
            </a:r>
            <a:endParaRPr lang="en-US" sz="3800" dirty="0"/>
          </a:p>
        </p:txBody>
      </p:sp>
      <p:sp>
        <p:nvSpPr>
          <p:cNvPr id="4" name="rel-stat-143"/>
          <p:cNvSpPr txBox="1"/>
          <p:nvPr/>
        </p:nvSpPr>
        <p:spPr>
          <a:xfrm>
            <a:off x="548640" y="1691640"/>
            <a:ext cx="3520440" cy="1097280"/>
          </a:xfrm>
          <a:prstGeom prst="rect">
            <a:avLst/>
          </a:prstGeom>
          <a:noFill/>
          <a:ln/>
        </p:spPr>
        <p:txBody>
          <a:bodyPr wrap="square" lIns="0" tIns="0" rIns="0" bIns="0" rtlCol="0" anchor="ctr"/>
          <a:lstStyle/>
          <a:p>
            <a:pPr algn="l" indent="0" marL="0">
              <a:buNone/>
            </a:pPr>
            <a:r>
              <a:rPr lang="en-US" sz="8000" b="1" dirty="0">
                <a:solidFill>
                  <a:schemeClr val="accent1"/>
                </a:solidFill>
                <a:latin typeface="+mj-lt" pitchFamily="34" charset="0"/>
                <a:ea typeface="+mj-lt" pitchFamily="34" charset="-122"/>
                <a:cs typeface="+mj-lt" pitchFamily="34" charset="-120"/>
              </a:rPr>
              <a:t>2,500</a:t>
            </a:r>
            <a:endParaRPr lang="en-US" sz="8000" dirty="0"/>
          </a:p>
        </p:txBody>
      </p:sp>
      <p:sp>
        <p:nvSpPr>
          <p:cNvPr id="5" name="rel-stat-label-144"/>
          <p:cNvSpPr txBox="1"/>
          <p:nvPr/>
        </p:nvSpPr>
        <p:spPr>
          <a:xfrm>
            <a:off x="548640" y="2834640"/>
            <a:ext cx="3520440" cy="685800"/>
          </a:xfrm>
          <a:prstGeom prst="rect">
            <a:avLst/>
          </a:prstGeom>
          <a:noFill/>
          <a:ln/>
        </p:spPr>
        <p:txBody>
          <a:bodyPr wrap="square" lIns="0" tIns="0" rIns="0" bIns="0" rtlCol="0" anchor="t"/>
          <a:lstStyle/>
          <a:p>
            <a:pPr algn="l" indent="0" marL="0">
              <a:buNone/>
            </a:pPr>
            <a:r>
              <a:rPr lang="en-US" sz="2000" dirty="0">
                <a:solidFill>
                  <a:schemeClr val="tx1"/>
                </a:solidFill>
              </a:rPr>
              <a:t>fault-injected workflows</a:t>
            </a:r>
            <a:endParaRPr lang="en-US" sz="2000" dirty="0"/>
          </a:p>
          <a:p>
            <a:pPr algn="l" indent="0" marL="0">
              <a:buNone/>
            </a:pPr>
            <a:r>
              <a:rPr lang="en-US" sz="2000" dirty="0">
                <a:solidFill>
                  <a:schemeClr val="tx1"/>
                </a:solidFill>
              </a:rPr>
              <a:t>(1,575 reach the broken stage)</a:t>
            </a:r>
            <a:endParaRPr lang="en-US" sz="2000" dirty="0"/>
          </a:p>
        </p:txBody>
      </p:sp>
      <p:sp>
        <p:nvSpPr>
          <p:cNvPr id="6" name="rel-stat-145"/>
          <p:cNvSpPr txBox="1"/>
          <p:nvPr/>
        </p:nvSpPr>
        <p:spPr>
          <a:xfrm>
            <a:off x="4335628" y="1691640"/>
            <a:ext cx="3520440" cy="1097280"/>
          </a:xfrm>
          <a:prstGeom prst="rect">
            <a:avLst/>
          </a:prstGeom>
          <a:noFill/>
          <a:ln/>
        </p:spPr>
        <p:txBody>
          <a:bodyPr wrap="square" lIns="0" tIns="0" rIns="0" bIns="0" rtlCol="0" anchor="ctr"/>
          <a:lstStyle/>
          <a:p>
            <a:pPr algn="l" indent="0" marL="0">
              <a:buNone/>
            </a:pPr>
            <a:r>
              <a:rPr lang="en-US" sz="8000" b="1" dirty="0">
                <a:solidFill>
                  <a:schemeClr val="accent1"/>
                </a:solidFill>
                <a:latin typeface="+mj-lt" pitchFamily="34" charset="0"/>
                <a:ea typeface="+mj-lt" pitchFamily="34" charset="-122"/>
                <a:cs typeface="+mj-lt" pitchFamily="34" charset="-120"/>
              </a:rPr>
              <a:t>0</a:t>
            </a:r>
            <a:endParaRPr lang="en-US" sz="8000" dirty="0"/>
          </a:p>
        </p:txBody>
      </p:sp>
      <p:sp>
        <p:nvSpPr>
          <p:cNvPr id="7" name="rel-stat-label-146"/>
          <p:cNvSpPr txBox="1"/>
          <p:nvPr/>
        </p:nvSpPr>
        <p:spPr>
          <a:xfrm>
            <a:off x="4335628" y="2834640"/>
            <a:ext cx="3520440" cy="685800"/>
          </a:xfrm>
          <a:prstGeom prst="rect">
            <a:avLst/>
          </a:prstGeom>
          <a:noFill/>
          <a:ln/>
        </p:spPr>
        <p:txBody>
          <a:bodyPr wrap="square" lIns="0" tIns="0" rIns="0" bIns="0" rtlCol="0" anchor="t"/>
          <a:lstStyle/>
          <a:p>
            <a:pPr algn="l" indent="0" marL="0">
              <a:buNone/>
            </a:pPr>
            <a:r>
              <a:rPr lang="en-US" sz="2000" dirty="0">
                <a:solidFill>
                  <a:schemeClr val="tx1"/>
                </a:solidFill>
              </a:rPr>
              <a:t>crashes</a:t>
            </a:r>
            <a:endParaRPr lang="en-US" sz="2000" dirty="0"/>
          </a:p>
        </p:txBody>
      </p:sp>
      <p:sp>
        <p:nvSpPr>
          <p:cNvPr id="8" name="rel-stat-147"/>
          <p:cNvSpPr txBox="1"/>
          <p:nvPr/>
        </p:nvSpPr>
        <p:spPr>
          <a:xfrm>
            <a:off x="8122615" y="1691640"/>
            <a:ext cx="3520440" cy="1097280"/>
          </a:xfrm>
          <a:prstGeom prst="rect">
            <a:avLst/>
          </a:prstGeom>
          <a:noFill/>
          <a:ln/>
        </p:spPr>
        <p:txBody>
          <a:bodyPr wrap="square" lIns="0" tIns="0" rIns="0" bIns="0" rtlCol="0" anchor="ctr"/>
          <a:lstStyle/>
          <a:p>
            <a:pPr algn="l" indent="0" marL="0">
              <a:buNone/>
            </a:pPr>
            <a:r>
              <a:rPr lang="en-US" sz="8000" b="1" dirty="0">
                <a:solidFill>
                  <a:schemeClr val="accent1"/>
                </a:solidFill>
                <a:latin typeface="+mj-lt" pitchFamily="34" charset="0"/>
                <a:ea typeface="+mj-lt" pitchFamily="34" charset="-122"/>
                <a:cs typeface="+mj-lt" pitchFamily="34" charset="-120"/>
              </a:rPr>
              <a:t>0</a:t>
            </a:r>
            <a:endParaRPr lang="en-US" sz="8000" dirty="0"/>
          </a:p>
        </p:txBody>
      </p:sp>
      <p:sp>
        <p:nvSpPr>
          <p:cNvPr id="9" name="rel-stat-label-148"/>
          <p:cNvSpPr txBox="1"/>
          <p:nvPr/>
        </p:nvSpPr>
        <p:spPr>
          <a:xfrm>
            <a:off x="8122615" y="2834640"/>
            <a:ext cx="3520440" cy="685800"/>
          </a:xfrm>
          <a:prstGeom prst="rect">
            <a:avLst/>
          </a:prstGeom>
          <a:noFill/>
          <a:ln/>
        </p:spPr>
        <p:txBody>
          <a:bodyPr wrap="square" lIns="0" tIns="0" rIns="0" bIns="0" rtlCol="0" anchor="t"/>
          <a:lstStyle/>
          <a:p>
            <a:pPr algn="l" indent="0" marL="0">
              <a:buNone/>
            </a:pPr>
            <a:r>
              <a:rPr lang="en-US" sz="2000" dirty="0">
                <a:solidFill>
                  <a:schemeClr val="tx1"/>
                </a:solidFill>
              </a:rPr>
              <a:t>broken stages reported as clean</a:t>
            </a:r>
            <a:endParaRPr lang="en-US" sz="2000" dirty="0"/>
          </a:p>
        </p:txBody>
      </p:sp>
      <p:sp>
        <p:nvSpPr>
          <p:cNvPr id="10" name="rel-card-149"/>
          <p:cNvSpPr txBox="1"/>
          <p:nvPr/>
        </p:nvSpPr>
        <p:spPr>
          <a:xfrm>
            <a:off x="548640" y="3794760"/>
            <a:ext cx="3520440" cy="2377440"/>
          </a:xfrm>
          <a:prstGeom prst="roundRect">
            <a:avLst>
              <a:gd name="adj" fmla="val 3846"/>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11" name="rel-card-title-150"/>
          <p:cNvSpPr txBox="1"/>
          <p:nvPr/>
        </p:nvSpPr>
        <p:spPr>
          <a:xfrm>
            <a:off x="777240" y="3977640"/>
            <a:ext cx="3108960" cy="411480"/>
          </a:xfrm>
          <a:prstGeom prst="rect">
            <a:avLst/>
          </a:prstGeom>
          <a:noFill/>
          <a:ln/>
        </p:spPr>
        <p:txBody>
          <a:bodyPr wrap="square" lIns="0" tIns="0" rIns="0" bIns="0" rtlCol="0" anchor="t"/>
          <a:lstStyle/>
          <a:p>
            <a:pPr algn="l" indent="0" marL="0">
              <a:buNone/>
            </a:pPr>
            <a:r>
              <a:rPr lang="en-US" sz="2200" b="1" dirty="0">
                <a:solidFill>
                  <a:schemeClr val="tx1"/>
                </a:solidFill>
                <a:latin typeface="+mj-lt" pitchFamily="34" charset="0"/>
                <a:ea typeface="+mj-lt" pitchFamily="34" charset="-122"/>
                <a:cs typeface="+mj-lt" pitchFamily="34" charset="-120"/>
              </a:rPr>
              <a:t>5 faults × 5 stages</a:t>
            </a:r>
            <a:endParaRPr lang="en-US" sz="2200" dirty="0"/>
          </a:p>
        </p:txBody>
      </p:sp>
      <p:sp>
        <p:nvSpPr>
          <p:cNvPr id="12" name="rel-card-a-151"/>
          <p:cNvSpPr txBox="1"/>
          <p:nvPr/>
        </p:nvSpPr>
        <p:spPr>
          <a:xfrm>
            <a:off x="777240" y="4507992"/>
            <a:ext cx="3108960" cy="685800"/>
          </a:xfrm>
          <a:prstGeom prst="rect">
            <a:avLst/>
          </a:prstGeom>
          <a:noFill/>
          <a:ln/>
        </p:spPr>
        <p:txBody>
          <a:bodyPr wrap="square" lIns="0" tIns="0" rIns="0" bIns="0" rtlCol="0" anchor="t"/>
          <a:lstStyle/>
          <a:p>
            <a:pPr algn="l" indent="0" marL="0">
              <a:buNone/>
            </a:pPr>
            <a:r>
              <a:rPr lang="en-US" sz="2000" dirty="0">
                <a:solidFill>
                  <a:schemeClr val="tx1"/>
                </a:solidFill>
              </a:rPr>
              <a:t>down · timeout · invalid output · crash · wrong tenant</a:t>
            </a:r>
            <a:endParaRPr lang="en-US" sz="2000" dirty="0"/>
          </a:p>
        </p:txBody>
      </p:sp>
      <p:sp>
        <p:nvSpPr>
          <p:cNvPr id="13" name="rel-card-b-152"/>
          <p:cNvSpPr txBox="1"/>
          <p:nvPr/>
        </p:nvSpPr>
        <p:spPr>
          <a:xfrm>
            <a:off x="777240" y="5276088"/>
            <a:ext cx="3108960" cy="685800"/>
          </a:xfrm>
          <a:prstGeom prst="rect">
            <a:avLst/>
          </a:prstGeom>
          <a:noFill/>
          <a:ln/>
        </p:spPr>
        <p:txBody>
          <a:bodyPr wrap="square" lIns="0" tIns="0" rIns="0" bIns="0" rtlCol="0" anchor="t"/>
          <a:lstStyle/>
          <a:p>
            <a:pPr algn="l" indent="0" marL="0">
              <a:buNone/>
            </a:pPr>
            <a:r>
              <a:rPr lang="en-US" sz="2000" b="1" dirty="0">
                <a:solidFill>
                  <a:schemeClr val="accent1"/>
                </a:solidFill>
              </a:rPr>
              <a:t>error on the right stage → FAILED → resume</a:t>
            </a:r>
            <a:endParaRPr lang="en-US" sz="2000" dirty="0"/>
          </a:p>
        </p:txBody>
      </p:sp>
      <p:sp>
        <p:nvSpPr>
          <p:cNvPr id="14" name="rel-card-153"/>
          <p:cNvSpPr txBox="1"/>
          <p:nvPr/>
        </p:nvSpPr>
        <p:spPr>
          <a:xfrm>
            <a:off x="4335628" y="3794760"/>
            <a:ext cx="3520440" cy="2377440"/>
          </a:xfrm>
          <a:prstGeom prst="roundRect">
            <a:avLst>
              <a:gd name="adj" fmla="val 3846"/>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15" name="rel-card-title-154"/>
          <p:cNvSpPr txBox="1"/>
          <p:nvPr/>
        </p:nvSpPr>
        <p:spPr>
          <a:xfrm>
            <a:off x="4564228" y="3977640"/>
            <a:ext cx="3108960" cy="411480"/>
          </a:xfrm>
          <a:prstGeom prst="rect">
            <a:avLst/>
          </a:prstGeom>
          <a:noFill/>
          <a:ln/>
        </p:spPr>
        <p:txBody>
          <a:bodyPr wrap="square" lIns="0" tIns="0" rIns="0" bIns="0" rtlCol="0" anchor="t"/>
          <a:lstStyle/>
          <a:p>
            <a:pPr algn="l" indent="0" marL="0">
              <a:buNone/>
            </a:pPr>
            <a:r>
              <a:rPr lang="en-US" sz="2200" b="1" dirty="0">
                <a:solidFill>
                  <a:schemeClr val="tx1"/>
                </a:solidFill>
                <a:latin typeface="+mj-lt" pitchFamily="34" charset="0"/>
                <a:ea typeface="+mj-lt" pitchFamily="34" charset="-122"/>
                <a:cs typeface="+mj-lt" pitchFamily="34" charset="-120"/>
              </a:rPr>
              <a:t>Another org's data</a:t>
            </a:r>
            <a:endParaRPr lang="en-US" sz="2200" dirty="0"/>
          </a:p>
        </p:txBody>
      </p:sp>
      <p:sp>
        <p:nvSpPr>
          <p:cNvPr id="16" name="rel-card-a-155"/>
          <p:cNvSpPr txBox="1"/>
          <p:nvPr/>
        </p:nvSpPr>
        <p:spPr>
          <a:xfrm>
            <a:off x="4564228" y="4507992"/>
            <a:ext cx="3108960" cy="685800"/>
          </a:xfrm>
          <a:prstGeom prst="rect">
            <a:avLst/>
          </a:prstGeom>
          <a:noFill/>
          <a:ln/>
        </p:spPr>
        <p:txBody>
          <a:bodyPr wrap="square" lIns="0" tIns="0" rIns="0" bIns="0" rtlCol="0" anchor="t"/>
          <a:lstStyle/>
          <a:p>
            <a:pPr algn="l" indent="0" marL="0">
              <a:buNone/>
            </a:pPr>
            <a:r>
              <a:rPr lang="en-US" sz="2000" dirty="0">
                <a:solidFill>
                  <a:schemeClr val="tx1"/>
                </a:solidFill>
              </a:rPr>
              <a:t>every agent refuses it (HTTP 404)</a:t>
            </a:r>
            <a:endParaRPr lang="en-US" sz="2000" dirty="0"/>
          </a:p>
        </p:txBody>
      </p:sp>
      <p:sp>
        <p:nvSpPr>
          <p:cNvPr id="17" name="rel-card-b-156"/>
          <p:cNvSpPr txBox="1"/>
          <p:nvPr/>
        </p:nvSpPr>
        <p:spPr>
          <a:xfrm>
            <a:off x="4564228" y="5276088"/>
            <a:ext cx="3108960" cy="685800"/>
          </a:xfrm>
          <a:prstGeom prst="rect">
            <a:avLst/>
          </a:prstGeom>
          <a:noFill/>
          <a:ln/>
        </p:spPr>
        <p:txBody>
          <a:bodyPr wrap="square" lIns="0" tIns="0" rIns="0" bIns="0" rtlCol="0" anchor="t"/>
          <a:lstStyle/>
          <a:p>
            <a:pPr algn="l" indent="0" marL="0">
              <a:buNone/>
            </a:pPr>
            <a:r>
              <a:rPr lang="en-US" sz="2000" b="1" dirty="0">
                <a:solidFill>
                  <a:schemeClr val="accent1"/>
                </a:solidFill>
              </a:rPr>
              <a:t>the orchestrator and the store refuse it too</a:t>
            </a:r>
            <a:endParaRPr lang="en-US" sz="2000" dirty="0"/>
          </a:p>
        </p:txBody>
      </p:sp>
      <p:sp>
        <p:nvSpPr>
          <p:cNvPr id="18" name="rel-card-157"/>
          <p:cNvSpPr txBox="1"/>
          <p:nvPr/>
        </p:nvSpPr>
        <p:spPr>
          <a:xfrm>
            <a:off x="8122615" y="3794760"/>
            <a:ext cx="3520440" cy="2377440"/>
          </a:xfrm>
          <a:prstGeom prst="roundRect">
            <a:avLst>
              <a:gd name="adj" fmla="val 3846"/>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19" name="rel-card-title-158"/>
          <p:cNvSpPr txBox="1"/>
          <p:nvPr/>
        </p:nvSpPr>
        <p:spPr>
          <a:xfrm>
            <a:off x="8351215" y="3977640"/>
            <a:ext cx="3108960" cy="411480"/>
          </a:xfrm>
          <a:prstGeom prst="rect">
            <a:avLst/>
          </a:prstGeom>
          <a:noFill/>
          <a:ln/>
        </p:spPr>
        <p:txBody>
          <a:bodyPr wrap="square" lIns="0" tIns="0" rIns="0" bIns="0" rtlCol="0" anchor="t"/>
          <a:lstStyle/>
          <a:p>
            <a:pPr algn="l" indent="0" marL="0">
              <a:buNone/>
            </a:pPr>
            <a:r>
              <a:rPr lang="en-US" sz="2200" b="1" dirty="0">
                <a:solidFill>
                  <a:schemeClr val="tx1"/>
                </a:solidFill>
                <a:latin typeface="+mj-lt" pitchFamily="34" charset="0"/>
                <a:ea typeface="+mj-lt" pitchFamily="34" charset="-122"/>
                <a:cs typeface="+mj-lt" pitchFamily="34" charset="-120"/>
              </a:rPr>
              <a:t>No photo, no verdict</a:t>
            </a:r>
            <a:endParaRPr lang="en-US" sz="2200" dirty="0"/>
          </a:p>
        </p:txBody>
      </p:sp>
      <p:sp>
        <p:nvSpPr>
          <p:cNvPr id="20" name="rel-card-a-159"/>
          <p:cNvSpPr txBox="1"/>
          <p:nvPr/>
        </p:nvSpPr>
        <p:spPr>
          <a:xfrm>
            <a:off x="8351215" y="4507992"/>
            <a:ext cx="3108960" cy="685800"/>
          </a:xfrm>
          <a:prstGeom prst="rect">
            <a:avLst/>
          </a:prstGeom>
          <a:noFill/>
          <a:ln/>
        </p:spPr>
        <p:txBody>
          <a:bodyPr wrap="square" lIns="0" tIns="0" rIns="0" bIns="0" rtlCol="0" anchor="t"/>
          <a:lstStyle/>
          <a:p>
            <a:pPr algn="l" indent="0" marL="0">
              <a:buNone/>
            </a:pPr>
            <a:r>
              <a:rPr lang="en-US" sz="2000" dirty="0">
                <a:solidFill>
                  <a:schemeClr val="tx1"/>
                </a:solidFill>
              </a:rPr>
              <a:t>100 runs without photos,</a:t>
            </a:r>
            <a:endParaRPr lang="en-US" sz="2000" dirty="0"/>
          </a:p>
          <a:p>
            <a:pPr algn="l" indent="0" marL="0">
              <a:buNone/>
            </a:pPr>
            <a:r>
              <a:rPr lang="en-US" sz="2000" dirty="0">
                <a:solidFill>
                  <a:schemeClr val="tx1"/>
                </a:solidFill>
              </a:rPr>
              <a:t>215 photo steps</a:t>
            </a:r>
            <a:endParaRPr lang="en-US" sz="2000" dirty="0"/>
          </a:p>
        </p:txBody>
      </p:sp>
      <p:sp>
        <p:nvSpPr>
          <p:cNvPr id="21" name="rel-card-b-160"/>
          <p:cNvSpPr txBox="1"/>
          <p:nvPr/>
        </p:nvSpPr>
        <p:spPr>
          <a:xfrm>
            <a:off x="8351215" y="5276088"/>
            <a:ext cx="3108960" cy="685800"/>
          </a:xfrm>
          <a:prstGeom prst="rect">
            <a:avLst/>
          </a:prstGeom>
          <a:noFill/>
          <a:ln/>
        </p:spPr>
        <p:txBody>
          <a:bodyPr wrap="square" lIns="0" tIns="0" rIns="0" bIns="0" rtlCol="0" anchor="t"/>
          <a:lstStyle/>
          <a:p>
            <a:pPr algn="l" indent="0" marL="0">
              <a:buNone/>
            </a:pPr>
            <a:r>
              <a:rPr lang="en-US" sz="2000" b="1" dirty="0">
                <a:solidFill>
                  <a:schemeClr val="accent1"/>
                </a:solidFill>
              </a:rPr>
              <a:t>0 verdicts invented; each says no_capture</a:t>
            </a:r>
            <a:endParaRPr lang="en-US" sz="2000" dirty="0"/>
          </a:p>
        </p:txBody>
      </p:sp>
      <p:sp>
        <p:nvSpPr>
          <p:cNvPr id="25" name="Slide Number Placeholder 0"/>
          <p:cNvSpPr>
            <a:spLocks noGrp="1"/>
          </p:cNvSpPr>
          <p:nvPr>
            <p:ph type="sldNum" sz="quarter" idx="4294967295"/>
          </p:nvPr>
        </p:nvSpPr>
        <p:spPr>
          <a:xfrm>
            <a:off x="11000232" y="638251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65760"/>
          </a:xfrm>
          <a:prstGeom prst="rect">
            <a:avLst/>
          </a:prstGeom>
          <a:noFill/>
          <a:ln/>
        </p:spPr>
        <p:txBody>
          <a:bodyPr wrap="square" lIns="0" tIns="0" rIns="0" bIns="0" rtlCol="0" anchor="t"/>
          <a:lstStyle/>
          <a:p>
            <a:pPr algn="l" indent="0" marL="0">
              <a:buNone/>
            </a:pPr>
            <a:r>
              <a:rPr lang="en-US" sz="1600" b="1" dirty="0">
                <a:solidFill>
                  <a:schemeClr val="accent1"/>
                </a:solidFill>
              </a:rPr>
              <a:t>UX, DEMO &amp; ENGINEERING QUALITY · 20</a:t>
            </a:r>
            <a:endParaRPr lang="en-US" sz="1600" dirty="0"/>
          </a:p>
        </p:txBody>
      </p:sp>
      <p:sp>
        <p:nvSpPr>
          <p:cNvPr id="3" name="Text 0"/>
          <p:cNvSpPr/>
          <p:nvPr>
            <p:ph idx="101" type="title" hasCustomPrompt="1"/>
          </p:nvPr>
        </p:nvSpPr>
        <p:spPr>
          <a:xfrm>
            <a:off x="548640" y="713232"/>
            <a:ext cx="11094415" cy="777240"/>
          </a:xfrm>
          <a:prstGeom prst="rect">
            <a:avLst/>
          </a:prstGeom>
          <a:noFill/>
          <a:ln/>
        </p:spPr>
        <p:txBody>
          <a:bodyPr wrap="square" lIns="0" tIns="0" rIns="0" bIns="0" rtlCol="0" anchor="t"/>
          <a:lstStyle/>
          <a:p>
            <a:pPr algn="l" indent="0" marL="0">
              <a:buNone/>
            </a:pPr>
            <a:r>
              <a:rPr lang="en-US" sz="3800" b="1" dirty="0">
                <a:solidFill>
                  <a:schemeClr val="tx1"/>
                </a:solidFill>
              </a:rPr>
              <a:t>Try it yourself on the live URL</a:t>
            </a:r>
            <a:endParaRPr lang="en-US" sz="3800" dirty="0"/>
          </a:p>
        </p:txBody>
      </p:sp>
      <p:sp>
        <p:nvSpPr>
          <p:cNvPr id="4" name="live-url-161"/>
          <p:cNvSpPr txBox="1"/>
          <p:nvPr/>
        </p:nvSpPr>
        <p:spPr>
          <a:xfrm>
            <a:off x="548640" y="1783080"/>
            <a:ext cx="7315200" cy="914400"/>
          </a:xfrm>
          <a:prstGeom prst="roundRect">
            <a:avLst>
              <a:gd name="adj" fmla="val 10000"/>
            </a:avLst>
          </a:prstGeom>
          <a:solidFill>
            <a:schemeClr val="accent3"/>
          </a:solidFill>
          <a:ln w="31750">
            <a:solidFill>
              <a:schemeClr val="accent1"/>
            </a:solidFill>
          </a:ln>
        </p:spPr>
        <p:txBody>
          <a:bodyPr wrap="square" lIns="228600" tIns="50800" rIns="127000" bIns="50800" rtlCol="0" anchor="ctr"/>
          <a:lstStyle/>
          <a:p>
            <a:pPr algn="l" indent="0" marL="0">
              <a:buNone/>
            </a:pPr>
            <a:r>
              <a:rPr lang="en-US" sz="3400" b="1" dirty="0">
                <a:solidFill>
                  <a:schemeClr val="accent1"/>
                </a:solidFill>
                <a:latin typeface="+mj-lt" pitchFamily="34" charset="0"/>
                <a:ea typeface="+mj-lt" pitchFamily="34" charset="-122"/>
                <a:cs typeface="+mj-lt" pitchFamily="34" charset="-120"/>
              </a:rPr>
              <a:t>https://&lt;deployment-url&gt;</a:t>
            </a:r>
            <a:endParaRPr lang="en-US" sz="3400" dirty="0"/>
          </a:p>
        </p:txBody>
      </p:sp>
      <p:sp>
        <p:nvSpPr>
          <p:cNvPr id="5" name="live-stack-162"/>
          <p:cNvSpPr txBox="1"/>
          <p:nvPr/>
        </p:nvSpPr>
        <p:spPr>
          <a:xfrm>
            <a:off x="8138160" y="1783080"/>
            <a:ext cx="3504895" cy="914400"/>
          </a:xfrm>
          <a:prstGeom prst="roundRect">
            <a:avLst>
              <a:gd name="adj" fmla="val 10000"/>
            </a:avLst>
          </a:prstGeom>
          <a:solidFill>
            <a:schemeClr val="tx1"/>
          </a:solidFill>
          <a:ln>
            <a:solidFill>
              <a:schemeClr val="tx1"/>
            </a:solidFill>
          </a:ln>
        </p:spPr>
        <p:txBody>
          <a:bodyPr wrap="square" lIns="203200" tIns="50800" rIns="127000" bIns="50800" rtlCol="0" anchor="ctr"/>
          <a:lstStyle/>
          <a:p>
            <a:pPr algn="l" indent="0" marL="0">
              <a:buNone/>
            </a:pPr>
            <a:r>
              <a:rPr lang="en-US" sz="2000" b="1" dirty="0">
                <a:solidFill>
                  <a:schemeClr val="bg1"/>
                </a:solidFill>
              </a:rPr>
              <a:t>App on Render</a:t>
            </a:r>
            <a:endParaRPr lang="en-US" sz="2000" dirty="0"/>
          </a:p>
          <a:p>
            <a:pPr algn="l" indent="0" marL="0">
              <a:buNone/>
            </a:pPr>
            <a:r>
              <a:rPr lang="en-US" sz="2000" dirty="0">
                <a:solidFill>
                  <a:schemeClr val="bg1"/>
                </a:solidFill>
              </a:rPr>
              <a:t>data in Supabase Postgres</a:t>
            </a:r>
            <a:endParaRPr lang="en-US" sz="2000" dirty="0"/>
          </a:p>
        </p:txBody>
      </p:sp>
      <p:sp>
        <p:nvSpPr>
          <p:cNvPr id="6" name="live-tile-163"/>
          <p:cNvSpPr txBox="1"/>
          <p:nvPr/>
        </p:nvSpPr>
        <p:spPr>
          <a:xfrm>
            <a:off x="548640" y="2926080"/>
            <a:ext cx="3520440" cy="1463040"/>
          </a:xfrm>
          <a:prstGeom prst="roundRect">
            <a:avLst>
              <a:gd name="adj" fmla="val 6250"/>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7" name="chip-164"/>
          <p:cNvSpPr txBox="1"/>
          <p:nvPr/>
        </p:nvSpPr>
        <p:spPr>
          <a:xfrm>
            <a:off x="749808" y="310896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1</a:t>
            </a:r>
            <a:endParaRPr lang="en-US" sz="2000" dirty="0"/>
          </a:p>
        </p:txBody>
      </p:sp>
      <p:sp>
        <p:nvSpPr>
          <p:cNvPr id="8" name="live-tile-title-165"/>
          <p:cNvSpPr txBox="1"/>
          <p:nvPr/>
        </p:nvSpPr>
        <p:spPr>
          <a:xfrm>
            <a:off x="1389888" y="3108960"/>
            <a:ext cx="2560320" cy="502920"/>
          </a:xfrm>
          <a:prstGeom prst="rect">
            <a:avLst/>
          </a:prstGeom>
          <a:noFill/>
          <a:ln/>
        </p:spPr>
        <p:txBody>
          <a:bodyPr wrap="square" lIns="0" tIns="0" rIns="0" bIns="0" rtlCol="0" anchor="ctr"/>
          <a:lstStyle/>
          <a:p>
            <a:pPr algn="l" indent="0" marL="0">
              <a:buNone/>
            </a:pPr>
            <a:r>
              <a:rPr lang="en-US" sz="2200" b="1" dirty="0">
                <a:solidFill>
                  <a:schemeClr val="tx1"/>
                </a:solidFill>
                <a:latin typeface="+mj-lt" pitchFamily="34" charset="0"/>
                <a:ea typeface="+mj-lt" pitchFamily="34" charset="-122"/>
                <a:cs typeface="+mj-lt" pitchFamily="34" charset="-120"/>
              </a:rPr>
              <a:t>Admin login</a:t>
            </a:r>
            <a:endParaRPr lang="en-US" sz="2200" dirty="0"/>
          </a:p>
        </p:txBody>
      </p:sp>
      <p:sp>
        <p:nvSpPr>
          <p:cNvPr id="9" name="live-tile-detail-166"/>
          <p:cNvSpPr txBox="1"/>
          <p:nvPr/>
        </p:nvSpPr>
        <p:spPr>
          <a:xfrm>
            <a:off x="749808" y="3712464"/>
            <a:ext cx="3154680" cy="621792"/>
          </a:xfrm>
          <a:prstGeom prst="rect">
            <a:avLst/>
          </a:prstGeom>
          <a:noFill/>
          <a:ln/>
        </p:spPr>
        <p:txBody>
          <a:bodyPr wrap="square" lIns="0" tIns="0" rIns="0" bIns="0" rtlCol="0" anchor="t"/>
          <a:lstStyle/>
          <a:p>
            <a:pPr algn="l" indent="0" marL="0">
              <a:buNone/>
            </a:pPr>
            <a:r>
              <a:rPr lang="en-US" sz="2000" dirty="0">
                <a:solidFill>
                  <a:schemeClr val="tx1"/>
                </a:solidFill>
              </a:rPr>
              <a:t>workflows, evidence and audit log</a:t>
            </a:r>
            <a:endParaRPr lang="en-US" sz="2000" dirty="0"/>
          </a:p>
        </p:txBody>
      </p:sp>
      <p:sp>
        <p:nvSpPr>
          <p:cNvPr id="10" name="live-tile-167"/>
          <p:cNvSpPr txBox="1"/>
          <p:nvPr/>
        </p:nvSpPr>
        <p:spPr>
          <a:xfrm>
            <a:off x="4335628" y="2926080"/>
            <a:ext cx="3520440" cy="1463040"/>
          </a:xfrm>
          <a:prstGeom prst="roundRect">
            <a:avLst>
              <a:gd name="adj" fmla="val 6250"/>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11" name="chip-168"/>
          <p:cNvSpPr txBox="1"/>
          <p:nvPr/>
        </p:nvSpPr>
        <p:spPr>
          <a:xfrm>
            <a:off x="4536796" y="310896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2</a:t>
            </a:r>
            <a:endParaRPr lang="en-US" sz="2000" dirty="0"/>
          </a:p>
        </p:txBody>
      </p:sp>
      <p:sp>
        <p:nvSpPr>
          <p:cNvPr id="12" name="live-tile-title-169"/>
          <p:cNvSpPr txBox="1"/>
          <p:nvPr/>
        </p:nvSpPr>
        <p:spPr>
          <a:xfrm>
            <a:off x="5176876" y="3108960"/>
            <a:ext cx="2560320" cy="502920"/>
          </a:xfrm>
          <a:prstGeom prst="rect">
            <a:avLst/>
          </a:prstGeom>
          <a:noFill/>
          <a:ln/>
        </p:spPr>
        <p:txBody>
          <a:bodyPr wrap="square" lIns="0" tIns="0" rIns="0" bIns="0" rtlCol="0" anchor="ctr"/>
          <a:lstStyle/>
          <a:p>
            <a:pPr algn="l" indent="0" marL="0">
              <a:buNone/>
            </a:pPr>
            <a:r>
              <a:rPr lang="en-US" sz="2200" b="1" dirty="0">
                <a:solidFill>
                  <a:schemeClr val="tx1"/>
                </a:solidFill>
                <a:latin typeface="+mj-lt" pitchFamily="34" charset="0"/>
                <a:ea typeface="+mj-lt" pitchFamily="34" charset="-122"/>
                <a:cs typeface="+mj-lt" pitchFamily="34" charset="-120"/>
              </a:rPr>
              <a:t>Run a unit</a:t>
            </a:r>
            <a:endParaRPr lang="en-US" sz="2200" dirty="0"/>
          </a:p>
        </p:txBody>
      </p:sp>
      <p:sp>
        <p:nvSpPr>
          <p:cNvPr id="13" name="live-tile-detail-170"/>
          <p:cNvSpPr txBox="1"/>
          <p:nvPr/>
        </p:nvSpPr>
        <p:spPr>
          <a:xfrm>
            <a:off x="4536796" y="3712464"/>
            <a:ext cx="3154680" cy="621792"/>
          </a:xfrm>
          <a:prstGeom prst="rect">
            <a:avLst/>
          </a:prstGeom>
          <a:noFill/>
          <a:ln/>
        </p:spPr>
        <p:txBody>
          <a:bodyPr wrap="square" lIns="0" tIns="0" rIns="0" bIns="0" rtlCol="0" anchor="t"/>
          <a:lstStyle/>
          <a:p>
            <a:pPr algn="l" indent="0" marL="0">
              <a:buNone/>
            </a:pPr>
            <a:r>
              <a:rPr lang="en-US" sz="2000" dirty="0">
                <a:solidFill>
                  <a:schemeClr val="tx1"/>
                </a:solidFill>
              </a:rPr>
              <a:t>one real Gemini call per photo stage</a:t>
            </a:r>
            <a:endParaRPr lang="en-US" sz="2000" dirty="0"/>
          </a:p>
        </p:txBody>
      </p:sp>
      <p:sp>
        <p:nvSpPr>
          <p:cNvPr id="14" name="live-tile-171"/>
          <p:cNvSpPr txBox="1"/>
          <p:nvPr/>
        </p:nvSpPr>
        <p:spPr>
          <a:xfrm>
            <a:off x="8122615" y="2926080"/>
            <a:ext cx="3520440" cy="1463040"/>
          </a:xfrm>
          <a:prstGeom prst="roundRect">
            <a:avLst>
              <a:gd name="adj" fmla="val 6250"/>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15" name="chip-172"/>
          <p:cNvSpPr txBox="1"/>
          <p:nvPr/>
        </p:nvSpPr>
        <p:spPr>
          <a:xfrm>
            <a:off x="8323783" y="310896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3</a:t>
            </a:r>
            <a:endParaRPr lang="en-US" sz="2000" dirty="0"/>
          </a:p>
        </p:txBody>
      </p:sp>
      <p:sp>
        <p:nvSpPr>
          <p:cNvPr id="16" name="live-tile-title-173"/>
          <p:cNvSpPr txBox="1"/>
          <p:nvPr/>
        </p:nvSpPr>
        <p:spPr>
          <a:xfrm>
            <a:off x="8963863" y="3108960"/>
            <a:ext cx="2560320" cy="502920"/>
          </a:xfrm>
          <a:prstGeom prst="rect">
            <a:avLst/>
          </a:prstGeom>
          <a:noFill/>
          <a:ln/>
        </p:spPr>
        <p:txBody>
          <a:bodyPr wrap="square" lIns="0" tIns="0" rIns="0" bIns="0" rtlCol="0" anchor="ctr"/>
          <a:lstStyle/>
          <a:p>
            <a:pPr algn="l" indent="0" marL="0">
              <a:buNone/>
            </a:pPr>
            <a:r>
              <a:rPr lang="en-US" sz="2200" b="1" dirty="0">
                <a:solidFill>
                  <a:schemeClr val="tx1"/>
                </a:solidFill>
                <a:latin typeface="+mj-lt" pitchFamily="34" charset="0"/>
                <a:ea typeface="+mj-lt" pitchFamily="34" charset="-122"/>
                <a:cs typeface="+mj-lt" pitchFamily="34" charset="-120"/>
              </a:rPr>
              <a:t>Phone stations</a:t>
            </a:r>
            <a:endParaRPr lang="en-US" sz="2200" dirty="0"/>
          </a:p>
        </p:txBody>
      </p:sp>
      <p:sp>
        <p:nvSpPr>
          <p:cNvPr id="17" name="live-tile-detail-174"/>
          <p:cNvSpPr txBox="1"/>
          <p:nvPr/>
        </p:nvSpPr>
        <p:spPr>
          <a:xfrm>
            <a:off x="8323783" y="3712464"/>
            <a:ext cx="3154680" cy="621792"/>
          </a:xfrm>
          <a:prstGeom prst="rect">
            <a:avLst/>
          </a:prstGeom>
          <a:noFill/>
          <a:ln/>
        </p:spPr>
        <p:txBody>
          <a:bodyPr wrap="square" lIns="0" tIns="0" rIns="0" bIns="0" rtlCol="0" anchor="t"/>
          <a:lstStyle/>
          <a:p>
            <a:pPr algn="l" indent="0" marL="0">
              <a:buNone/>
            </a:pPr>
            <a:r>
              <a:rPr lang="en-US" sz="2000" dirty="0">
                <a:solidFill>
                  <a:schemeClr val="tx1"/>
                </a:solidFill>
              </a:rPr>
              <a:t>each teammate runs their own agent</a:t>
            </a:r>
            <a:endParaRPr lang="en-US" sz="2000" dirty="0"/>
          </a:p>
        </p:txBody>
      </p:sp>
      <p:sp>
        <p:nvSpPr>
          <p:cNvPr id="18" name="live-tile-175"/>
          <p:cNvSpPr txBox="1"/>
          <p:nvPr/>
        </p:nvSpPr>
        <p:spPr>
          <a:xfrm>
            <a:off x="548640" y="4617720"/>
            <a:ext cx="3520440" cy="1463040"/>
          </a:xfrm>
          <a:prstGeom prst="roundRect">
            <a:avLst>
              <a:gd name="adj" fmla="val 6250"/>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19" name="chip-176"/>
          <p:cNvSpPr txBox="1"/>
          <p:nvPr/>
        </p:nvSpPr>
        <p:spPr>
          <a:xfrm>
            <a:off x="749808" y="480060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4</a:t>
            </a:r>
            <a:endParaRPr lang="en-US" sz="2000" dirty="0"/>
          </a:p>
        </p:txBody>
      </p:sp>
      <p:sp>
        <p:nvSpPr>
          <p:cNvPr id="20" name="live-tile-title-177"/>
          <p:cNvSpPr txBox="1"/>
          <p:nvPr/>
        </p:nvSpPr>
        <p:spPr>
          <a:xfrm>
            <a:off x="1389888" y="4800600"/>
            <a:ext cx="2560320" cy="502920"/>
          </a:xfrm>
          <a:prstGeom prst="rect">
            <a:avLst/>
          </a:prstGeom>
          <a:noFill/>
          <a:ln/>
        </p:spPr>
        <p:txBody>
          <a:bodyPr wrap="square" lIns="0" tIns="0" rIns="0" bIns="0" rtlCol="0" anchor="ctr"/>
          <a:lstStyle/>
          <a:p>
            <a:pPr algn="l" indent="0" marL="0">
              <a:buNone/>
            </a:pPr>
            <a:r>
              <a:rPr lang="en-US" sz="2200" b="1" dirty="0">
                <a:solidFill>
                  <a:schemeClr val="tx1"/>
                </a:solidFill>
                <a:latin typeface="+mj-lt" pitchFamily="34" charset="0"/>
                <a:ea typeface="+mj-lt" pitchFamily="34" charset="-122"/>
                <a:cs typeface="+mj-lt" pitchFamily="34" charset="-120"/>
              </a:rPr>
              <a:t>Review queue</a:t>
            </a:r>
            <a:endParaRPr lang="en-US" sz="2200" dirty="0"/>
          </a:p>
        </p:txBody>
      </p:sp>
      <p:sp>
        <p:nvSpPr>
          <p:cNvPr id="21" name="live-tile-detail-178"/>
          <p:cNvSpPr txBox="1"/>
          <p:nvPr/>
        </p:nvSpPr>
        <p:spPr>
          <a:xfrm>
            <a:off x="749808" y="5404104"/>
            <a:ext cx="3154680" cy="621792"/>
          </a:xfrm>
          <a:prstGeom prst="rect">
            <a:avLst/>
          </a:prstGeom>
          <a:noFill/>
          <a:ln/>
        </p:spPr>
        <p:txBody>
          <a:bodyPr wrap="square" lIns="0" tIns="0" rIns="0" bIns="0" rtlCol="0" anchor="t"/>
          <a:lstStyle/>
          <a:p>
            <a:pPr algn="l" indent="0" marL="0">
              <a:buNone/>
            </a:pPr>
            <a:r>
              <a:rPr lang="en-US" sz="2000" dirty="0">
                <a:solidFill>
                  <a:schemeClr val="tx1"/>
                </a:solidFill>
              </a:rPr>
              <a:t>resolve an UNCERTAIN with an override</a:t>
            </a:r>
            <a:endParaRPr lang="en-US" sz="2000" dirty="0"/>
          </a:p>
        </p:txBody>
      </p:sp>
      <p:sp>
        <p:nvSpPr>
          <p:cNvPr id="22" name="live-tile-179"/>
          <p:cNvSpPr txBox="1"/>
          <p:nvPr/>
        </p:nvSpPr>
        <p:spPr>
          <a:xfrm>
            <a:off x="4335628" y="4617720"/>
            <a:ext cx="3520440" cy="1463040"/>
          </a:xfrm>
          <a:prstGeom prst="roundRect">
            <a:avLst>
              <a:gd name="adj" fmla="val 6250"/>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23" name="chip-180"/>
          <p:cNvSpPr txBox="1"/>
          <p:nvPr/>
        </p:nvSpPr>
        <p:spPr>
          <a:xfrm>
            <a:off x="4536796" y="480060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5</a:t>
            </a:r>
            <a:endParaRPr lang="en-US" sz="2000" dirty="0"/>
          </a:p>
        </p:txBody>
      </p:sp>
      <p:sp>
        <p:nvSpPr>
          <p:cNvPr id="24" name="live-tile-title-181"/>
          <p:cNvSpPr txBox="1"/>
          <p:nvPr/>
        </p:nvSpPr>
        <p:spPr>
          <a:xfrm>
            <a:off x="5176876" y="4800600"/>
            <a:ext cx="2560320" cy="502920"/>
          </a:xfrm>
          <a:prstGeom prst="rect">
            <a:avLst/>
          </a:prstGeom>
          <a:noFill/>
          <a:ln/>
        </p:spPr>
        <p:txBody>
          <a:bodyPr wrap="square" lIns="0" tIns="0" rIns="0" bIns="0" rtlCol="0" anchor="ctr"/>
          <a:lstStyle/>
          <a:p>
            <a:pPr algn="l" indent="0" marL="0">
              <a:buNone/>
            </a:pPr>
            <a:r>
              <a:rPr lang="en-US" sz="2200" b="1" dirty="0">
                <a:solidFill>
                  <a:schemeClr val="tx1"/>
                </a:solidFill>
                <a:latin typeface="+mj-lt" pitchFamily="34" charset="0"/>
                <a:ea typeface="+mj-lt" pitchFamily="34" charset="-122"/>
                <a:cs typeface="+mj-lt" pitchFamily="34" charset="-120"/>
              </a:rPr>
              <a:t>Agent switch</a:t>
            </a:r>
            <a:endParaRPr lang="en-US" sz="2200" dirty="0"/>
          </a:p>
        </p:txBody>
      </p:sp>
      <p:sp>
        <p:nvSpPr>
          <p:cNvPr id="25" name="live-tile-detail-182"/>
          <p:cNvSpPr txBox="1"/>
          <p:nvPr/>
        </p:nvSpPr>
        <p:spPr>
          <a:xfrm>
            <a:off x="4536796" y="5404104"/>
            <a:ext cx="3154680" cy="621792"/>
          </a:xfrm>
          <a:prstGeom prst="rect">
            <a:avLst/>
          </a:prstGeom>
          <a:noFill/>
          <a:ln/>
        </p:spPr>
        <p:txBody>
          <a:bodyPr wrap="square" lIns="0" tIns="0" rIns="0" bIns="0" rtlCol="0" anchor="t"/>
          <a:lstStyle/>
          <a:p>
            <a:pPr algn="l" indent="0" marL="0">
              <a:buNone/>
            </a:pPr>
            <a:r>
              <a:rPr lang="en-US" sz="2000" dirty="0">
                <a:solidFill>
                  <a:schemeClr val="tx1"/>
                </a:solidFill>
              </a:rPr>
              <a:t>take one down, see FAILED, resume</a:t>
            </a:r>
            <a:endParaRPr lang="en-US" sz="2000" dirty="0"/>
          </a:p>
        </p:txBody>
      </p:sp>
      <p:sp>
        <p:nvSpPr>
          <p:cNvPr id="26" name="live-tile-183"/>
          <p:cNvSpPr txBox="1"/>
          <p:nvPr/>
        </p:nvSpPr>
        <p:spPr>
          <a:xfrm>
            <a:off x="8122615" y="4617720"/>
            <a:ext cx="3520440" cy="1463040"/>
          </a:xfrm>
          <a:prstGeom prst="roundRect">
            <a:avLst>
              <a:gd name="adj" fmla="val 6250"/>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27" name="chip-184"/>
          <p:cNvSpPr txBox="1"/>
          <p:nvPr/>
        </p:nvSpPr>
        <p:spPr>
          <a:xfrm>
            <a:off x="8323783" y="480060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6</a:t>
            </a:r>
            <a:endParaRPr lang="en-US" sz="2000" dirty="0"/>
          </a:p>
        </p:txBody>
      </p:sp>
      <p:sp>
        <p:nvSpPr>
          <p:cNvPr id="28" name="live-tile-title-185"/>
          <p:cNvSpPr txBox="1"/>
          <p:nvPr/>
        </p:nvSpPr>
        <p:spPr>
          <a:xfrm>
            <a:off x="8963863" y="4800600"/>
            <a:ext cx="2560320" cy="502920"/>
          </a:xfrm>
          <a:prstGeom prst="rect">
            <a:avLst/>
          </a:prstGeom>
          <a:noFill/>
          <a:ln/>
        </p:spPr>
        <p:txBody>
          <a:bodyPr wrap="square" lIns="0" tIns="0" rIns="0" bIns="0" rtlCol="0" anchor="ctr"/>
          <a:lstStyle/>
          <a:p>
            <a:pPr algn="l" indent="0" marL="0">
              <a:buNone/>
            </a:pPr>
            <a:r>
              <a:rPr lang="en-US" sz="2200" b="1" dirty="0">
                <a:solidFill>
                  <a:schemeClr val="tx1"/>
                </a:solidFill>
                <a:latin typeface="+mj-lt" pitchFamily="34" charset="0"/>
                <a:ea typeface="+mj-lt" pitchFamily="34" charset="-122"/>
                <a:cs typeface="+mj-lt" pitchFamily="34" charset="-120"/>
              </a:rPr>
              <a:t>Org access codes</a:t>
            </a:r>
            <a:endParaRPr lang="en-US" sz="2200" dirty="0"/>
          </a:p>
        </p:txBody>
      </p:sp>
      <p:sp>
        <p:nvSpPr>
          <p:cNvPr id="29" name="live-tile-detail-186"/>
          <p:cNvSpPr txBox="1"/>
          <p:nvPr/>
        </p:nvSpPr>
        <p:spPr>
          <a:xfrm>
            <a:off x="8323783" y="5404104"/>
            <a:ext cx="3154680" cy="621792"/>
          </a:xfrm>
          <a:prstGeom prst="rect">
            <a:avLst/>
          </a:prstGeom>
          <a:noFill/>
          <a:ln/>
        </p:spPr>
        <p:txBody>
          <a:bodyPr wrap="square" lIns="0" tIns="0" rIns="0" bIns="0" rtlCol="0" anchor="t"/>
          <a:lstStyle/>
          <a:p>
            <a:pPr algn="l" indent="0" marL="0">
              <a:buNone/>
            </a:pPr>
            <a:r>
              <a:rPr lang="en-US" sz="2000" dirty="0">
                <a:solidFill>
                  <a:schemeClr val="tx1"/>
                </a:solidFill>
              </a:rPr>
              <a:t>another org's data is refused</a:t>
            </a:r>
            <a:endParaRPr lang="en-US" sz="2000" dirty="0"/>
          </a:p>
        </p:txBody>
      </p:sp>
      <p:sp>
        <p:nvSpPr>
          <p:cNvPr id="25" name="Slide Number Placeholder 0"/>
          <p:cNvSpPr>
            <a:spLocks noGrp="1"/>
          </p:cNvSpPr>
          <p:nvPr>
            <p:ph type="sldNum" sz="quarter" idx="4294967295"/>
          </p:nvPr>
        </p:nvSpPr>
        <p:spPr>
          <a:xfrm>
            <a:off x="11000232" y="638251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65760"/>
          </a:xfrm>
          <a:prstGeom prst="rect">
            <a:avLst/>
          </a:prstGeom>
          <a:noFill/>
          <a:ln/>
        </p:spPr>
        <p:txBody>
          <a:bodyPr wrap="square" lIns="0" tIns="0" rIns="0" bIns="0" rtlCol="0" anchor="t"/>
          <a:lstStyle/>
          <a:p>
            <a:pPr algn="l" indent="0" marL="0">
              <a:buNone/>
            </a:pPr>
            <a:r>
              <a:rPr lang="en-US" sz="1600" b="1" dirty="0">
                <a:solidFill>
                  <a:schemeClr val="accent1"/>
                </a:solidFill>
              </a:rPr>
              <a:t>UX, DEMO &amp; ENGINEERING QUALITY · 20</a:t>
            </a:r>
            <a:endParaRPr lang="en-US" sz="1600" dirty="0"/>
          </a:p>
        </p:txBody>
      </p:sp>
      <p:sp>
        <p:nvSpPr>
          <p:cNvPr id="3" name="Text 0"/>
          <p:cNvSpPr/>
          <p:nvPr>
            <p:ph idx="101" type="title" hasCustomPrompt="1"/>
          </p:nvPr>
        </p:nvSpPr>
        <p:spPr>
          <a:xfrm>
            <a:off x="548640" y="713232"/>
            <a:ext cx="11094415" cy="777240"/>
          </a:xfrm>
          <a:prstGeom prst="rect">
            <a:avLst/>
          </a:prstGeom>
          <a:noFill/>
          <a:ln/>
        </p:spPr>
        <p:txBody>
          <a:bodyPr wrap="square" lIns="0" tIns="0" rIns="0" bIns="0" rtlCol="0" anchor="t"/>
          <a:lstStyle/>
          <a:p>
            <a:pPr algn="l" indent="0" marL="0">
              <a:buNone/>
            </a:pPr>
            <a:r>
              <a:rPr lang="en-US" sz="3800" b="1" dirty="0">
                <a:solidFill>
                  <a:schemeClr val="tx1"/>
                </a:solidFill>
              </a:rPr>
              <a:t>Tested hard, honest about limits</a:t>
            </a:r>
            <a:endParaRPr lang="en-US" sz="3800" dirty="0"/>
          </a:p>
        </p:txBody>
      </p:sp>
      <p:sp>
        <p:nvSpPr>
          <p:cNvPr id="4" name="eng-stat-187"/>
          <p:cNvSpPr txBox="1"/>
          <p:nvPr/>
        </p:nvSpPr>
        <p:spPr>
          <a:xfrm>
            <a:off x="548640" y="1783080"/>
            <a:ext cx="4754880" cy="77724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536</a:t>
            </a:r>
            <a:endParaRPr lang="en-US" sz="5400" dirty="0"/>
          </a:p>
        </p:txBody>
      </p:sp>
      <p:sp>
        <p:nvSpPr>
          <p:cNvPr id="5" name="eng-stat-label-188"/>
          <p:cNvSpPr txBox="1"/>
          <p:nvPr/>
        </p:nvSpPr>
        <p:spPr>
          <a:xfrm>
            <a:off x="548640" y="2560320"/>
            <a:ext cx="4937760" cy="411480"/>
          </a:xfrm>
          <a:prstGeom prst="rect">
            <a:avLst/>
          </a:prstGeom>
          <a:noFill/>
          <a:ln/>
        </p:spPr>
        <p:txBody>
          <a:bodyPr wrap="square" lIns="0" tIns="0" rIns="0" bIns="0" rtlCol="0" anchor="t"/>
          <a:lstStyle/>
          <a:p>
            <a:pPr algn="l" indent="0" marL="0">
              <a:buNone/>
            </a:pPr>
            <a:r>
              <a:rPr lang="en-US" sz="2000" dirty="0">
                <a:solidFill>
                  <a:schemeClr val="tx1"/>
                </a:solidFill>
              </a:rPr>
              <a:t>automated tests pass, no API key needed</a:t>
            </a:r>
            <a:endParaRPr lang="en-US" sz="2000" dirty="0"/>
          </a:p>
        </p:txBody>
      </p:sp>
      <p:sp>
        <p:nvSpPr>
          <p:cNvPr id="6" name="eng-stat-189"/>
          <p:cNvSpPr txBox="1"/>
          <p:nvPr/>
        </p:nvSpPr>
        <p:spPr>
          <a:xfrm>
            <a:off x="548640" y="3246120"/>
            <a:ext cx="4754880" cy="77724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97 / 100</a:t>
            </a:r>
            <a:endParaRPr lang="en-US" sz="5400" dirty="0"/>
          </a:p>
        </p:txBody>
      </p:sp>
      <p:sp>
        <p:nvSpPr>
          <p:cNvPr id="7" name="eng-stat-label-190"/>
          <p:cNvSpPr txBox="1"/>
          <p:nvPr/>
        </p:nvSpPr>
        <p:spPr>
          <a:xfrm>
            <a:off x="548640" y="4023360"/>
            <a:ext cx="4937760" cy="411480"/>
          </a:xfrm>
          <a:prstGeom prst="rect">
            <a:avLst/>
          </a:prstGeom>
          <a:noFill/>
          <a:ln/>
        </p:spPr>
        <p:txBody>
          <a:bodyPr wrap="square" lIns="0" tIns="0" rIns="0" bIns="0" rtlCol="0" anchor="t"/>
          <a:lstStyle/>
          <a:p>
            <a:pPr algn="l" indent="0" marL="0">
              <a:buNone/>
            </a:pPr>
            <a:r>
              <a:rPr lang="en-US" sz="2000" dirty="0">
                <a:solidFill>
                  <a:schemeClr val="tx1"/>
                </a:solidFill>
              </a:rPr>
              <a:t>units match the organisers' reference</a:t>
            </a:r>
            <a:endParaRPr lang="en-US" sz="2000" dirty="0"/>
          </a:p>
        </p:txBody>
      </p:sp>
      <p:sp>
        <p:nvSpPr>
          <p:cNvPr id="8" name="eng-stat-191"/>
          <p:cNvSpPr txBox="1"/>
          <p:nvPr/>
        </p:nvSpPr>
        <p:spPr>
          <a:xfrm>
            <a:off x="548640" y="4709160"/>
            <a:ext cx="4754880" cy="77724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~2 min</a:t>
            </a:r>
            <a:endParaRPr lang="en-US" sz="5400" dirty="0"/>
          </a:p>
        </p:txBody>
      </p:sp>
      <p:sp>
        <p:nvSpPr>
          <p:cNvPr id="9" name="eng-stat-label-192"/>
          <p:cNvSpPr txBox="1"/>
          <p:nvPr/>
        </p:nvSpPr>
        <p:spPr>
          <a:xfrm>
            <a:off x="548640" y="5486400"/>
            <a:ext cx="4937760" cy="411480"/>
          </a:xfrm>
          <a:prstGeom prst="rect">
            <a:avLst/>
          </a:prstGeom>
          <a:noFill/>
          <a:ln/>
        </p:spPr>
        <p:txBody>
          <a:bodyPr wrap="square" lIns="0" tIns="0" rIns="0" bIns="0" rtlCol="0" anchor="t"/>
          <a:lstStyle/>
          <a:p>
            <a:pPr algn="l" indent="0" marL="0">
              <a:buNone/>
            </a:pPr>
            <a:r>
              <a:rPr lang="en-US" sz="2000" dirty="0">
                <a:solidFill>
                  <a:schemeClr val="tx1"/>
                </a:solidFill>
              </a:rPr>
              <a:t>to re-run the whole system evaluation</a:t>
            </a:r>
            <a:endParaRPr lang="en-US" sz="2000" dirty="0"/>
          </a:p>
        </p:txBody>
      </p:sp>
      <p:sp>
        <p:nvSpPr>
          <p:cNvPr id="10" name="eng-limits-card-193"/>
          <p:cNvSpPr txBox="1"/>
          <p:nvPr/>
        </p:nvSpPr>
        <p:spPr>
          <a:xfrm>
            <a:off x="5669280" y="1783080"/>
            <a:ext cx="5973775" cy="4389120"/>
          </a:xfrm>
          <a:prstGeom prst="roundRect">
            <a:avLst>
              <a:gd name="adj" fmla="val 2083"/>
            </a:avLst>
          </a:prstGeom>
          <a:solidFill>
            <a:schemeClr val="bg2"/>
          </a:solidFill>
          <a:ln>
            <a:solidFill>
              <a:schemeClr val="bg2"/>
            </a:solidFill>
          </a:ln>
        </p:spPr>
        <p:txBody>
          <a:bodyPr wrap="square" lIns="127000" tIns="50800" rIns="101600" bIns="50800" rtlCol="0" anchor="ctr"/>
          <a:lstStyle/>
          <a:p>
            <a:pPr algn="l" indent="0" marL="0">
              <a:buNone/>
            </a:pPr>
            <a:endParaRPr lang="en-US" sz="2000" dirty="0"/>
          </a:p>
        </p:txBody>
      </p:sp>
      <p:sp>
        <p:nvSpPr>
          <p:cNvPr id="11" name="eng-limits-title-194"/>
          <p:cNvSpPr txBox="1"/>
          <p:nvPr/>
        </p:nvSpPr>
        <p:spPr>
          <a:xfrm>
            <a:off x="5943600" y="1965960"/>
            <a:ext cx="5516575" cy="457200"/>
          </a:xfrm>
          <a:prstGeom prst="rect">
            <a:avLst/>
          </a:prstGeom>
          <a:noFill/>
          <a:ln/>
        </p:spPr>
        <p:txBody>
          <a:bodyPr wrap="square" lIns="0" tIns="0" rIns="0" bIns="0" rtlCol="0" anchor="t"/>
          <a:lstStyle/>
          <a:p>
            <a:pPr algn="l" indent="0" marL="0">
              <a:buNone/>
            </a:pPr>
            <a:r>
              <a:rPr lang="en-US" sz="2400" b="1" dirty="0">
                <a:solidFill>
                  <a:schemeClr val="tx1"/>
                </a:solidFill>
                <a:latin typeface="+mj-lt" pitchFamily="34" charset="0"/>
                <a:ea typeface="+mj-lt" pitchFamily="34" charset="-122"/>
                <a:cs typeface="+mj-lt" pitchFamily="34" charset="-120"/>
              </a:rPr>
              <a:t>What we do not claim</a:t>
            </a:r>
            <a:endParaRPr lang="en-US" sz="2400" dirty="0"/>
          </a:p>
        </p:txBody>
      </p:sp>
      <p:sp>
        <p:nvSpPr>
          <p:cNvPr id="12" name="eng-limits-195"/>
          <p:cNvSpPr txBox="1"/>
          <p:nvPr/>
        </p:nvSpPr>
        <p:spPr>
          <a:xfrm>
            <a:off x="5943600" y="2560320"/>
            <a:ext cx="5470855" cy="3474720"/>
          </a:xfrm>
          <a:prstGeom prst="rect">
            <a:avLst/>
          </a:prstGeom>
          <a:noFill/>
          <a:ln/>
        </p:spPr>
        <p:txBody>
          <a:bodyPr wrap="square" lIns="0" tIns="0" rIns="0" bIns="0" rtlCol="0" anchor="t"/>
          <a:lstStyle/>
          <a:p>
            <a:pPr algn="l" marL="342900" indent="-342900">
              <a:spcAft>
                <a:spcPts val="1000"/>
              </a:spcAft>
              <a:buSzPct val="100000"/>
              <a:buChar char="•"/>
            </a:pPr>
            <a:r>
              <a:rPr lang="en-US" sz="2000" dirty="0">
                <a:solidFill>
                  <a:schemeClr val="tx1"/>
                </a:solidFill>
              </a:rPr>
              <a:t>Tests use scripted models: they prove rules, hand-offs and tenancy, not model accuracy</a:t>
            </a:r>
            <a:endParaRPr lang="en-US" sz="2000" dirty="0"/>
          </a:p>
          <a:p>
            <a:pPr algn="l" marL="342900" indent="-342900">
              <a:spcAft>
                <a:spcPts val="1000"/>
              </a:spcAft>
              <a:buSzPct val="100000"/>
              <a:buChar char="•"/>
            </a:pPr>
            <a:r>
              <a:rPr lang="en-US" sz="2000" dirty="0">
                <a:solidFill>
                  <a:schemeClr val="tx1"/>
                </a:solidFill>
              </a:rPr>
              <a:t>Per-check accuracy on our own photos is still a small sample, not a rate</a:t>
            </a:r>
            <a:endParaRPr lang="en-US" sz="2000" dirty="0"/>
          </a:p>
          <a:p>
            <a:pPr algn="l" marL="342900" indent="-342900">
              <a:spcAft>
                <a:spcPts val="1000"/>
              </a:spcAft>
              <a:buSzPct val="100000"/>
              <a:buChar char="•"/>
            </a:pPr>
            <a:r>
              <a:rPr lang="en-US" sz="2000" dirty="0">
                <a:solidFill>
                  <a:schemeClr val="tx1"/>
                </a:solidFill>
              </a:rPr>
              <a:t>Pack, Round 2 (50 held-out photos): 2 of 26 wrong boxes passed, 12 of 24 good boxes stopped, so a person decides</a:t>
            </a:r>
            <a:endParaRPr lang="en-US" sz="2000" dirty="0"/>
          </a:p>
          <a:p>
            <a:pPr algn="l" marL="342900" indent="-342900">
              <a:spcAft>
                <a:spcPts val="1000"/>
              </a:spcAft>
              <a:buSzPct val="100000"/>
              <a:buChar char="•"/>
            </a:pPr>
            <a:r>
              <a:rPr lang="en-US" sz="2000" dirty="0">
                <a:solidFill>
                  <a:schemeClr val="tx1"/>
                </a:solidFill>
              </a:rPr>
              <a:t>Prep and Returns rule sources are unverified, and every record says so</a:t>
            </a:r>
            <a:endParaRPr lang="en-US" sz="2000" dirty="0"/>
          </a:p>
        </p:txBody>
      </p:sp>
      <p:sp>
        <p:nvSpPr>
          <p:cNvPr id="25" name="Slide Number Placeholder 0"/>
          <p:cNvSpPr>
            <a:spLocks noGrp="1"/>
          </p:cNvSpPr>
          <p:nvPr>
            <p:ph type="sldNum" sz="quarter" idx="4294967295"/>
          </p:nvPr>
        </p:nvSpPr>
        <p:spPr>
          <a:xfrm>
            <a:off x="11000232" y="638251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65760"/>
          </a:xfrm>
          <a:prstGeom prst="rect">
            <a:avLst/>
          </a:prstGeom>
          <a:noFill/>
          <a:ln/>
        </p:spPr>
        <p:txBody>
          <a:bodyPr wrap="square" lIns="0" tIns="0" rIns="0" bIns="0" rtlCol="0" anchor="t"/>
          <a:lstStyle/>
          <a:p>
            <a:pPr algn="l" indent="0" marL="0">
              <a:buNone/>
            </a:pPr>
            <a:r>
              <a:rPr lang="en-US" sz="1600" b="1" dirty="0">
                <a:solidFill>
                  <a:schemeClr val="accent1"/>
                </a:solidFill>
              </a:rPr>
              <a:t>TEAM COLLABORATION · 5</a:t>
            </a:r>
            <a:endParaRPr lang="en-US" sz="1600" dirty="0"/>
          </a:p>
        </p:txBody>
      </p:sp>
      <p:sp>
        <p:nvSpPr>
          <p:cNvPr id="3" name="Text 0"/>
          <p:cNvSpPr/>
          <p:nvPr>
            <p:ph idx="101" type="title" hasCustomPrompt="1"/>
          </p:nvPr>
        </p:nvSpPr>
        <p:spPr>
          <a:xfrm>
            <a:off x="548640" y="713232"/>
            <a:ext cx="11094415" cy="777240"/>
          </a:xfrm>
          <a:prstGeom prst="rect">
            <a:avLst/>
          </a:prstGeom>
          <a:noFill/>
          <a:ln/>
        </p:spPr>
        <p:txBody>
          <a:bodyPr wrap="square" lIns="0" tIns="0" rIns="0" bIns="0" rtlCol="0" anchor="t"/>
          <a:lstStyle/>
          <a:p>
            <a:pPr algn="l" indent="0" marL="0">
              <a:buNone/>
            </a:pPr>
            <a:r>
              <a:rPr lang="en-US" sz="3800" b="1" dirty="0">
                <a:solidFill>
                  <a:schemeClr val="tx1"/>
                </a:solidFill>
              </a:rPr>
              <a:t>Five people, one system</a:t>
            </a:r>
            <a:endParaRPr lang="en-US" sz="3800" dirty="0"/>
          </a:p>
        </p:txBody>
      </p:sp>
      <p:graphicFrame>
        <p:nvGraphicFramePr>
          <p:cNvPr id="11" name="team-table-196"/>
          <p:cNvGraphicFramePr>
            <a:graphicFrameLocks noGrp="1"/>
          </p:cNvGraphicFramePr>
          <p:nvPr>
            <p:extLst>
              <p:ext uri="{D42A27DB-BD31-4B8C-83A1-F6EECF244321}">
                <p14:modId xmlns:p14="http://schemas.microsoft.com/office/powerpoint/2010/main" val="1579011935"/>
              </p:ext>
            </p:extLst>
          </p:nvPr>
        </p:nvGraphicFramePr>
        <p:xfrm>
          <a:off x="548640" y="1783080"/>
          <a:ext cx="7863840" cy="914400"/>
        </p:xfrm>
        <a:graphic>
          <a:graphicData uri="http://schemas.openxmlformats.org/drawingml/2006/table">
            <a:tbl>
              <a:tblPr/>
              <a:tblGrid>
                <a:gridCol w="3017520"/>
                <a:gridCol w="1828800"/>
                <a:gridCol w="3017520"/>
              </a:tblGrid>
              <a:tr h="548640">
                <a:tc>
                  <a:txBody>
                    <a:bodyPr/>
                    <a:lstStyle/>
                    <a:p>
                      <a:pPr indent="0" marL="0">
                        <a:buNone/>
                      </a:pPr>
                      <a:r>
                        <a:rPr lang="en-US" sz="2000" b="1" dirty="0">
                          <a:solidFill>
                            <a:schemeClr val="bg1"/>
                          </a:solidFill>
                        </a:rPr>
                        <a:t>Member</a:t>
                      </a:r>
                      <a:endParaRPr lang="en-US" sz="2000" dirty="0"/>
                    </a:p>
                  </a:txBody>
                  <a:tcPr marL="109728" marR="109728"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c>
                  <a:txBody>
                    <a:bodyPr/>
                    <a:lstStyle/>
                    <a:p>
                      <a:pPr indent="0" marL="0">
                        <a:buNone/>
                      </a:pPr>
                      <a:r>
                        <a:rPr lang="en-US" sz="2000" b="1" dirty="0">
                          <a:solidFill>
                            <a:schemeClr val="bg1"/>
                          </a:solidFill>
                        </a:rPr>
                        <a:t>Agent / area</a:t>
                      </a:r>
                      <a:endParaRPr lang="en-US" sz="2000" dirty="0"/>
                    </a:p>
                  </a:txBody>
                  <a:tcPr marL="109728" marR="109728"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c>
                  <a:txBody>
                    <a:bodyPr/>
                    <a:lstStyle/>
                    <a:p>
                      <a:pPr indent="0" marL="0">
                        <a:buNone/>
                      </a:pPr>
                      <a:r>
                        <a:rPr lang="en-US" sz="2000" b="1" dirty="0">
                          <a:solidFill>
                            <a:schemeClr val="bg1"/>
                          </a:solidFill>
                        </a:rPr>
                        <a:t>Built and presents</a:t>
                      </a:r>
                      <a:endParaRPr lang="en-US" sz="2000" dirty="0"/>
                    </a:p>
                  </a:txBody>
                  <a:tcPr marL="109728" marR="109728"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r>
              <a:tr h="548640">
                <a:tc>
                  <a:txBody>
                    <a:bodyPr/>
                    <a:lstStyle/>
                    <a:p>
                      <a:pPr indent="0" marL="0">
                        <a:buNone/>
                      </a:pPr>
                      <a:r>
                        <a:rPr lang="en-US" sz="2000" dirty="0">
                          <a:solidFill>
                            <a:schemeClr val="tx1"/>
                          </a:solidFill>
                        </a:rPr>
                        <a:t>&lt;Team member name&gt;</a:t>
                      </a:r>
                      <a:endParaRPr lang="en-US" sz="2000" dirty="0"/>
                    </a:p>
                  </a:txBody>
                  <a:tcPr marL="109728" marR="109728"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2000" b="1" dirty="0">
                          <a:solidFill>
                            <a:schemeClr val="tx1"/>
                          </a:solidFill>
                        </a:rPr>
                        <a:t>Receiving</a:t>
                      </a:r>
                      <a:endParaRPr lang="en-US" sz="2000" dirty="0"/>
                    </a:p>
                  </a:txBody>
                  <a:tcPr marL="109728" marR="109728"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rPr>
                        <a:t>&lt;contribution&gt;</a:t>
                      </a:r>
                      <a:endParaRPr lang="en-US" sz="2000" dirty="0"/>
                    </a:p>
                  </a:txBody>
                  <a:tcPr marL="109728" marR="109728"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r h="548640">
                <a:tc>
                  <a:txBody>
                    <a:bodyPr/>
                    <a:lstStyle/>
                    <a:p>
                      <a:pPr indent="0" marL="0">
                        <a:buNone/>
                      </a:pPr>
                      <a:r>
                        <a:rPr lang="en-US" sz="2000" dirty="0">
                          <a:solidFill>
                            <a:schemeClr val="tx1"/>
                          </a:solidFill>
                        </a:rPr>
                        <a:t>&lt;Team member name&gt;</a:t>
                      </a:r>
                      <a:endParaRPr lang="en-US" sz="2000" dirty="0"/>
                    </a:p>
                  </a:txBody>
                  <a:tcPr marL="109728" marR="109728"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2000" b="1" dirty="0">
                          <a:solidFill>
                            <a:schemeClr val="tx1"/>
                          </a:solidFill>
                        </a:rPr>
                        <a:t>Prep</a:t>
                      </a:r>
                      <a:endParaRPr lang="en-US" sz="2000" dirty="0"/>
                    </a:p>
                  </a:txBody>
                  <a:tcPr marL="109728" marR="109728"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rPr>
                        <a:t>&lt;contribution&gt;</a:t>
                      </a:r>
                      <a:endParaRPr lang="en-US" sz="2000" dirty="0"/>
                    </a:p>
                  </a:txBody>
                  <a:tcPr marL="109728" marR="109728"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r h="548640">
                <a:tc>
                  <a:txBody>
                    <a:bodyPr/>
                    <a:lstStyle/>
                    <a:p>
                      <a:pPr indent="0" marL="0">
                        <a:buNone/>
                      </a:pPr>
                      <a:r>
                        <a:rPr lang="en-US" sz="2000" dirty="0">
                          <a:solidFill>
                            <a:schemeClr val="tx1"/>
                          </a:solidFill>
                        </a:rPr>
                        <a:t>&lt;Team member name&gt;</a:t>
                      </a:r>
                      <a:endParaRPr lang="en-US" sz="2000" dirty="0"/>
                    </a:p>
                  </a:txBody>
                  <a:tcPr marL="109728" marR="109728"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2000" b="1" dirty="0">
                          <a:solidFill>
                            <a:schemeClr val="tx1"/>
                          </a:solidFill>
                        </a:rPr>
                        <a:t>Pack</a:t>
                      </a:r>
                      <a:endParaRPr lang="en-US" sz="2000" dirty="0"/>
                    </a:p>
                  </a:txBody>
                  <a:tcPr marL="109728" marR="109728"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rPr>
                        <a:t>&lt;contribution&gt;</a:t>
                      </a:r>
                      <a:endParaRPr lang="en-US" sz="2000" dirty="0"/>
                    </a:p>
                  </a:txBody>
                  <a:tcPr marL="109728" marR="109728"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r h="548640">
                <a:tc>
                  <a:txBody>
                    <a:bodyPr/>
                    <a:lstStyle/>
                    <a:p>
                      <a:pPr indent="0" marL="0">
                        <a:buNone/>
                      </a:pPr>
                      <a:r>
                        <a:rPr lang="en-US" sz="2000" dirty="0">
                          <a:solidFill>
                            <a:schemeClr val="tx1"/>
                          </a:solidFill>
                        </a:rPr>
                        <a:t>&lt;Team member name&gt;</a:t>
                      </a:r>
                      <a:endParaRPr lang="en-US" sz="2000" dirty="0"/>
                    </a:p>
                  </a:txBody>
                  <a:tcPr marL="109728" marR="109728"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2000" b="1" dirty="0">
                          <a:solidFill>
                            <a:schemeClr val="tx1"/>
                          </a:solidFill>
                        </a:rPr>
                        <a:t>Returns</a:t>
                      </a:r>
                      <a:endParaRPr lang="en-US" sz="2000" dirty="0"/>
                    </a:p>
                  </a:txBody>
                  <a:tcPr marL="109728" marR="109728"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rPr>
                        <a:t>&lt;contribution&gt;</a:t>
                      </a:r>
                      <a:endParaRPr lang="en-US" sz="2000" dirty="0"/>
                    </a:p>
                  </a:txBody>
                  <a:tcPr marL="109728" marR="109728"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r h="548640">
                <a:tc>
                  <a:txBody>
                    <a:bodyPr/>
                    <a:lstStyle/>
                    <a:p>
                      <a:pPr indent="0" marL="0">
                        <a:buNone/>
                      </a:pPr>
                      <a:r>
                        <a:rPr lang="en-US" sz="2000" dirty="0">
                          <a:solidFill>
                            <a:schemeClr val="tx1"/>
                          </a:solidFill>
                        </a:rPr>
                        <a:t>&lt;Team member name&gt;</a:t>
                      </a:r>
                      <a:endParaRPr lang="en-US" sz="2000" dirty="0"/>
                    </a:p>
                  </a:txBody>
                  <a:tcPr marL="109728" marR="109728"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2000" b="1" dirty="0">
                          <a:solidFill>
                            <a:schemeClr val="tx1"/>
                          </a:solidFill>
                        </a:rPr>
                        <a:t>Recovery</a:t>
                      </a:r>
                      <a:endParaRPr lang="en-US" sz="2000" dirty="0"/>
                    </a:p>
                  </a:txBody>
                  <a:tcPr marL="109728" marR="109728"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rPr>
                        <a:t>&lt;contribution&gt;</a:t>
                      </a:r>
                      <a:endParaRPr lang="en-US" sz="2000" dirty="0"/>
                    </a:p>
                  </a:txBody>
                  <a:tcPr marL="109728" marR="109728"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r h="548640">
                <a:tc>
                  <a:txBody>
                    <a:bodyPr/>
                    <a:lstStyle/>
                    <a:p>
                      <a:pPr indent="0" marL="0">
                        <a:buNone/>
                      </a:pPr>
                      <a:r>
                        <a:rPr lang="en-US" sz="2000" b="1" dirty="0">
                          <a:solidFill>
                            <a:schemeClr val="tx1"/>
                          </a:solidFill>
                        </a:rPr>
                        <a:t>All five</a:t>
                      </a:r>
                      <a:endParaRPr lang="en-US" sz="2000" dirty="0"/>
                    </a:p>
                  </a:txBody>
                  <a:tcPr marL="109728" marR="109728"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2000" b="1" dirty="0">
                          <a:solidFill>
                            <a:schemeClr val="tx1"/>
                          </a:solidFill>
                        </a:rPr>
                        <a:t>Orchestrator</a:t>
                      </a:r>
                      <a:endParaRPr lang="en-US" sz="2000" dirty="0"/>
                    </a:p>
                  </a:txBody>
                  <a:tcPr marL="109728" marR="109728"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rPr>
                        <a:t>contracts · tests · demo</a:t>
                      </a:r>
                      <a:endParaRPr lang="en-US" sz="2000" dirty="0"/>
                    </a:p>
                  </a:txBody>
                  <a:tcPr marL="109728" marR="109728"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phone-197"/>
          <p:cNvSpPr txBox="1"/>
          <p:nvPr/>
        </p:nvSpPr>
        <p:spPr>
          <a:xfrm>
            <a:off x="8714232" y="1874520"/>
            <a:ext cx="512064" cy="914400"/>
          </a:xfrm>
          <a:prstGeom prst="roundRect">
            <a:avLst>
              <a:gd name="adj" fmla="val 17857"/>
            </a:avLst>
          </a:prstGeom>
          <a:solidFill>
            <a:schemeClr val="bg1"/>
          </a:solidFill>
          <a:ln w="25400">
            <a:solidFill>
              <a:schemeClr val="tx1"/>
            </a:solidFill>
          </a:ln>
        </p:spPr>
        <p:txBody>
          <a:bodyPr wrap="square" lIns="127000" tIns="50800" rIns="101600" bIns="50800" rtlCol="0" anchor="ctr"/>
          <a:lstStyle/>
          <a:p>
            <a:pPr algn="l" indent="0" marL="0">
              <a:buNone/>
            </a:pPr>
            <a:endParaRPr lang="en-US" sz="2000" dirty="0"/>
          </a:p>
        </p:txBody>
      </p:sp>
      <p:sp>
        <p:nvSpPr>
          <p:cNvPr id="6" name="chip-198"/>
          <p:cNvSpPr txBox="1"/>
          <p:nvPr/>
        </p:nvSpPr>
        <p:spPr>
          <a:xfrm>
            <a:off x="8787384" y="214884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7" name="phone-199"/>
          <p:cNvSpPr txBox="1"/>
          <p:nvPr/>
        </p:nvSpPr>
        <p:spPr>
          <a:xfrm>
            <a:off x="9317736" y="1874520"/>
            <a:ext cx="512064" cy="914400"/>
          </a:xfrm>
          <a:prstGeom prst="roundRect">
            <a:avLst>
              <a:gd name="adj" fmla="val 17857"/>
            </a:avLst>
          </a:prstGeom>
          <a:solidFill>
            <a:schemeClr val="bg1"/>
          </a:solidFill>
          <a:ln w="25400">
            <a:solidFill>
              <a:schemeClr val="tx1"/>
            </a:solidFill>
          </a:ln>
        </p:spPr>
        <p:txBody>
          <a:bodyPr wrap="square" lIns="127000" tIns="50800" rIns="101600" bIns="50800" rtlCol="0" anchor="ctr"/>
          <a:lstStyle/>
          <a:p>
            <a:pPr algn="l" indent="0" marL="0">
              <a:buNone/>
            </a:pPr>
            <a:endParaRPr lang="en-US" sz="2000" dirty="0"/>
          </a:p>
        </p:txBody>
      </p:sp>
      <p:sp>
        <p:nvSpPr>
          <p:cNvPr id="8" name="chip-200"/>
          <p:cNvSpPr txBox="1"/>
          <p:nvPr/>
        </p:nvSpPr>
        <p:spPr>
          <a:xfrm>
            <a:off x="9390888" y="214884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9" name="phone-201"/>
          <p:cNvSpPr txBox="1"/>
          <p:nvPr/>
        </p:nvSpPr>
        <p:spPr>
          <a:xfrm>
            <a:off x="9921240" y="1874520"/>
            <a:ext cx="512064" cy="914400"/>
          </a:xfrm>
          <a:prstGeom prst="roundRect">
            <a:avLst>
              <a:gd name="adj" fmla="val 17857"/>
            </a:avLst>
          </a:prstGeom>
          <a:solidFill>
            <a:schemeClr val="bg1"/>
          </a:solidFill>
          <a:ln w="25400">
            <a:solidFill>
              <a:schemeClr val="tx1"/>
            </a:solidFill>
          </a:ln>
        </p:spPr>
        <p:txBody>
          <a:bodyPr wrap="square" lIns="127000" tIns="50800" rIns="101600" bIns="50800" rtlCol="0" anchor="ctr"/>
          <a:lstStyle/>
          <a:p>
            <a:pPr algn="l" indent="0" marL="0">
              <a:buNone/>
            </a:pPr>
            <a:endParaRPr lang="en-US" sz="2000" dirty="0"/>
          </a:p>
        </p:txBody>
      </p:sp>
      <p:sp>
        <p:nvSpPr>
          <p:cNvPr id="10" name="chip-202"/>
          <p:cNvSpPr txBox="1"/>
          <p:nvPr/>
        </p:nvSpPr>
        <p:spPr>
          <a:xfrm>
            <a:off x="9994392" y="214884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1" name="phone-203"/>
          <p:cNvSpPr txBox="1"/>
          <p:nvPr/>
        </p:nvSpPr>
        <p:spPr>
          <a:xfrm>
            <a:off x="10524744" y="1874520"/>
            <a:ext cx="512064" cy="914400"/>
          </a:xfrm>
          <a:prstGeom prst="roundRect">
            <a:avLst>
              <a:gd name="adj" fmla="val 17857"/>
            </a:avLst>
          </a:prstGeom>
          <a:solidFill>
            <a:schemeClr val="bg1"/>
          </a:solidFill>
          <a:ln w="25400">
            <a:solidFill>
              <a:schemeClr val="tx1"/>
            </a:solidFill>
          </a:ln>
        </p:spPr>
        <p:txBody>
          <a:bodyPr wrap="square" lIns="127000" tIns="50800" rIns="101600" bIns="50800" rtlCol="0" anchor="ctr"/>
          <a:lstStyle/>
          <a:p>
            <a:pPr algn="l" indent="0" marL="0">
              <a:buNone/>
            </a:pPr>
            <a:endParaRPr lang="en-US" sz="2000" dirty="0"/>
          </a:p>
        </p:txBody>
      </p:sp>
      <p:sp>
        <p:nvSpPr>
          <p:cNvPr id="12" name="chip-204"/>
          <p:cNvSpPr txBox="1"/>
          <p:nvPr/>
        </p:nvSpPr>
        <p:spPr>
          <a:xfrm>
            <a:off x="10597896" y="214884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13" name="phone-205"/>
          <p:cNvSpPr txBox="1"/>
          <p:nvPr/>
        </p:nvSpPr>
        <p:spPr>
          <a:xfrm>
            <a:off x="11128248" y="1874520"/>
            <a:ext cx="512064" cy="914400"/>
          </a:xfrm>
          <a:prstGeom prst="roundRect">
            <a:avLst>
              <a:gd name="adj" fmla="val 17857"/>
            </a:avLst>
          </a:prstGeom>
          <a:solidFill>
            <a:schemeClr val="bg1"/>
          </a:solidFill>
          <a:ln w="25400">
            <a:solidFill>
              <a:schemeClr val="tx1"/>
            </a:solidFill>
          </a:ln>
        </p:spPr>
        <p:txBody>
          <a:bodyPr wrap="square" lIns="127000" tIns="50800" rIns="101600" bIns="50800" rtlCol="0" anchor="ctr"/>
          <a:lstStyle/>
          <a:p>
            <a:pPr algn="l" indent="0" marL="0">
              <a:buNone/>
            </a:pPr>
            <a:endParaRPr lang="en-US" sz="2000" dirty="0"/>
          </a:p>
        </p:txBody>
      </p:sp>
      <p:sp>
        <p:nvSpPr>
          <p:cNvPr id="14" name="chip-206"/>
          <p:cNvSpPr txBox="1"/>
          <p:nvPr/>
        </p:nvSpPr>
        <p:spPr>
          <a:xfrm>
            <a:off x="11201400" y="214884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5</a:t>
            </a:r>
            <a:endParaRPr lang="en-US" sz="1600" dirty="0"/>
          </a:p>
        </p:txBody>
      </p:sp>
      <p:sp>
        <p:nvSpPr>
          <p:cNvPr id="15" name="team-phones-207"/>
          <p:cNvSpPr txBox="1"/>
          <p:nvPr/>
        </p:nvSpPr>
        <p:spPr>
          <a:xfrm>
            <a:off x="8686800" y="3017520"/>
            <a:ext cx="2956255" cy="1280160"/>
          </a:xfrm>
          <a:prstGeom prst="rect">
            <a:avLst/>
          </a:prstGeom>
          <a:noFill/>
          <a:ln/>
        </p:spPr>
        <p:txBody>
          <a:bodyPr wrap="square" lIns="0" tIns="0" rIns="0" bIns="0" rtlCol="0" anchor="t"/>
          <a:lstStyle/>
          <a:p>
            <a:pPr algn="l" indent="0" marL="0">
              <a:buNone/>
            </a:pPr>
            <a:r>
              <a:rPr lang="en-US" sz="2000" dirty="0">
                <a:solidFill>
                  <a:schemeClr val="tx1"/>
                </a:solidFill>
              </a:rPr>
              <a:t>Each teammate runs their own agent, live, from a phone station</a:t>
            </a:r>
            <a:endParaRPr lang="en-US" sz="2000" dirty="0"/>
          </a:p>
        </p:txBody>
      </p:sp>
      <p:sp>
        <p:nvSpPr>
          <p:cNvPr id="16" name="team-present-208"/>
          <p:cNvSpPr txBox="1"/>
          <p:nvPr/>
        </p:nvSpPr>
        <p:spPr>
          <a:xfrm>
            <a:off x="8686800" y="4434840"/>
            <a:ext cx="2956255" cy="914400"/>
          </a:xfrm>
          <a:prstGeom prst="rect">
            <a:avLst/>
          </a:prstGeom>
          <a:noFill/>
          <a:ln/>
        </p:spPr>
        <p:txBody>
          <a:bodyPr wrap="square" lIns="0" tIns="0" rIns="0" bIns="0" rtlCol="0" anchor="t"/>
          <a:lstStyle/>
          <a:p>
            <a:pPr algn="l" indent="0" marL="0">
              <a:buNone/>
            </a:pPr>
            <a:r>
              <a:rPr lang="en-US" sz="2000" b="1" dirty="0">
                <a:solidFill>
                  <a:schemeClr val="accent1"/>
                </a:solidFill>
              </a:rPr>
              <a:t>Every member presents the agent they own</a:t>
            </a:r>
            <a:endParaRPr lang="en-US" sz="2000" dirty="0"/>
          </a:p>
        </p:txBody>
      </p:sp>
      <p:sp>
        <p:nvSpPr>
          <p:cNvPr id="25" name="Slide Number Placeholder 0"/>
          <p:cNvSpPr>
            <a:spLocks noGrp="1"/>
          </p:cNvSpPr>
          <p:nvPr>
            <p:ph type="sldNum" sz="quarter" idx="4294967295"/>
          </p:nvPr>
        </p:nvSpPr>
        <p:spPr>
          <a:xfrm>
            <a:off x="11000232" y="638251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65760"/>
          </a:xfrm>
          <a:prstGeom prst="rect">
            <a:avLst/>
          </a:prstGeom>
          <a:noFill/>
          <a:ln/>
        </p:spPr>
        <p:txBody>
          <a:bodyPr wrap="square" lIns="0" tIns="0" rIns="0" bIns="0" rtlCol="0" anchor="t"/>
          <a:lstStyle/>
          <a:p>
            <a:pPr algn="l" indent="0" marL="0">
              <a:buNone/>
            </a:pPr>
            <a:r>
              <a:rPr lang="en-US" sz="1600" b="1" dirty="0">
                <a:solidFill>
                  <a:schemeClr val="accent2"/>
                </a:solidFill>
              </a:rPr>
              <a:t>DEMO PLAN</a:t>
            </a:r>
            <a:endParaRPr lang="en-US" sz="1600" dirty="0"/>
          </a:p>
        </p:txBody>
      </p:sp>
      <p:sp>
        <p:nvSpPr>
          <p:cNvPr id="3" name="Text 0"/>
          <p:cNvSpPr/>
          <p:nvPr>
            <p:ph idx="101" type="title" hasCustomPrompt="1"/>
          </p:nvPr>
        </p:nvSpPr>
        <p:spPr>
          <a:xfrm>
            <a:off x="548640" y="713232"/>
            <a:ext cx="11094415" cy="777240"/>
          </a:xfrm>
          <a:prstGeom prst="rect">
            <a:avLst/>
          </a:prstGeom>
          <a:noFill/>
          <a:ln/>
        </p:spPr>
        <p:txBody>
          <a:bodyPr wrap="square" lIns="0" tIns="0" rIns="0" bIns="0" rtlCol="0" anchor="t"/>
          <a:lstStyle/>
          <a:p>
            <a:pPr algn="l" indent="0" marL="0">
              <a:buNone/>
            </a:pPr>
            <a:r>
              <a:rPr lang="en-US" sz="3800" b="1" dirty="0">
                <a:solidFill>
                  <a:schemeClr val="bg1"/>
                </a:solidFill>
              </a:rPr>
              <a:t>Today's live run</a:t>
            </a:r>
            <a:endParaRPr lang="en-US" sz="3800" dirty="0"/>
          </a:p>
        </p:txBody>
      </p:sp>
      <p:sp>
        <p:nvSpPr>
          <p:cNvPr id="4" name="chip-209"/>
          <p:cNvSpPr txBox="1"/>
          <p:nvPr/>
        </p:nvSpPr>
        <p:spPr>
          <a:xfrm>
            <a:off x="548640" y="1819656"/>
            <a:ext cx="475488" cy="475488"/>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1</a:t>
            </a:r>
            <a:endParaRPr lang="en-US" sz="2000" dirty="0"/>
          </a:p>
        </p:txBody>
      </p:sp>
      <p:sp>
        <p:nvSpPr>
          <p:cNvPr id="5" name="demo-step-210"/>
          <p:cNvSpPr txBox="1"/>
          <p:nvPr/>
        </p:nvSpPr>
        <p:spPr>
          <a:xfrm>
            <a:off x="1234440" y="1783080"/>
            <a:ext cx="6355080" cy="548640"/>
          </a:xfrm>
          <a:prstGeom prst="rect">
            <a:avLst/>
          </a:prstGeom>
          <a:noFill/>
          <a:ln/>
        </p:spPr>
        <p:txBody>
          <a:bodyPr wrap="square" lIns="0" tIns="0" rIns="0" bIns="0" rtlCol="0" anchor="ctr"/>
          <a:lstStyle/>
          <a:p>
            <a:pPr algn="l" indent="0" marL="0">
              <a:buNone/>
            </a:pPr>
            <a:r>
              <a:rPr lang="en-US" sz="2200" dirty="0">
                <a:solidFill>
                  <a:schemeClr val="bg1"/>
                </a:solidFill>
              </a:rPr>
              <a:t>Wrong box → Pack says STOP_AND_FIX</a:t>
            </a:r>
            <a:endParaRPr lang="en-US" sz="2200" dirty="0"/>
          </a:p>
        </p:txBody>
      </p:sp>
      <p:sp>
        <p:nvSpPr>
          <p:cNvPr id="6" name="chip-211"/>
          <p:cNvSpPr txBox="1"/>
          <p:nvPr/>
        </p:nvSpPr>
        <p:spPr>
          <a:xfrm>
            <a:off x="548640" y="2514600"/>
            <a:ext cx="475488" cy="475488"/>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2</a:t>
            </a:r>
            <a:endParaRPr lang="en-US" sz="2000" dirty="0"/>
          </a:p>
        </p:txBody>
      </p:sp>
      <p:sp>
        <p:nvSpPr>
          <p:cNvPr id="7" name="demo-step-212"/>
          <p:cNvSpPr txBox="1"/>
          <p:nvPr/>
        </p:nvSpPr>
        <p:spPr>
          <a:xfrm>
            <a:off x="1234440" y="2478024"/>
            <a:ext cx="6355080" cy="548640"/>
          </a:xfrm>
          <a:prstGeom prst="rect">
            <a:avLst/>
          </a:prstGeom>
          <a:noFill/>
          <a:ln/>
        </p:spPr>
        <p:txBody>
          <a:bodyPr wrap="square" lIns="0" tIns="0" rIns="0" bIns="0" rtlCol="0" anchor="ctr"/>
          <a:lstStyle/>
          <a:p>
            <a:pPr algn="l" indent="0" marL="0">
              <a:buNone/>
            </a:pPr>
            <a:r>
              <a:rPr lang="en-US" sz="2200" dirty="0">
                <a:solidFill>
                  <a:schemeClr val="bg1"/>
                </a:solidFill>
              </a:rPr>
              <a:t>Hidden items → UNCERTAIN → a person overrides</a:t>
            </a:r>
            <a:endParaRPr lang="en-US" sz="2200" dirty="0"/>
          </a:p>
        </p:txBody>
      </p:sp>
      <p:sp>
        <p:nvSpPr>
          <p:cNvPr id="8" name="chip-213"/>
          <p:cNvSpPr txBox="1"/>
          <p:nvPr/>
        </p:nvSpPr>
        <p:spPr>
          <a:xfrm>
            <a:off x="548640" y="3209544"/>
            <a:ext cx="475488" cy="475488"/>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3</a:t>
            </a:r>
            <a:endParaRPr lang="en-US" sz="2000" dirty="0"/>
          </a:p>
        </p:txBody>
      </p:sp>
      <p:sp>
        <p:nvSpPr>
          <p:cNvPr id="9" name="demo-step-214"/>
          <p:cNvSpPr txBox="1"/>
          <p:nvPr/>
        </p:nvSpPr>
        <p:spPr>
          <a:xfrm>
            <a:off x="1234440" y="3172968"/>
            <a:ext cx="6355080" cy="548640"/>
          </a:xfrm>
          <a:prstGeom prst="rect">
            <a:avLst/>
          </a:prstGeom>
          <a:noFill/>
          <a:ln/>
        </p:spPr>
        <p:txBody>
          <a:bodyPr wrap="square" lIns="0" tIns="0" rIns="0" bIns="0" rtlCol="0" anchor="ctr"/>
          <a:lstStyle/>
          <a:p>
            <a:pPr algn="l" indent="0" marL="0">
              <a:buNone/>
            </a:pPr>
            <a:r>
              <a:rPr lang="en-US" sz="2200" dirty="0">
                <a:solidFill>
                  <a:schemeClr val="bg1"/>
                </a:solidFill>
              </a:rPr>
              <a:t>FBA label → Prep reads the FNSKU itself</a:t>
            </a:r>
            <a:endParaRPr lang="en-US" sz="2200" dirty="0"/>
          </a:p>
        </p:txBody>
      </p:sp>
      <p:sp>
        <p:nvSpPr>
          <p:cNvPr id="10" name="chip-215"/>
          <p:cNvSpPr txBox="1"/>
          <p:nvPr/>
        </p:nvSpPr>
        <p:spPr>
          <a:xfrm>
            <a:off x="548640" y="3904488"/>
            <a:ext cx="475488" cy="475488"/>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4</a:t>
            </a:r>
            <a:endParaRPr lang="en-US" sz="2000" dirty="0"/>
          </a:p>
        </p:txBody>
      </p:sp>
      <p:sp>
        <p:nvSpPr>
          <p:cNvPr id="11" name="demo-step-216"/>
          <p:cNvSpPr txBox="1"/>
          <p:nvPr/>
        </p:nvSpPr>
        <p:spPr>
          <a:xfrm>
            <a:off x="1234440" y="3867912"/>
            <a:ext cx="6355080" cy="548640"/>
          </a:xfrm>
          <a:prstGeom prst="rect">
            <a:avLst/>
          </a:prstGeom>
          <a:noFill/>
          <a:ln/>
        </p:spPr>
        <p:txBody>
          <a:bodyPr wrap="square" lIns="0" tIns="0" rIns="0" bIns="0" rtlCol="0" anchor="ctr"/>
          <a:lstStyle/>
          <a:p>
            <a:pPr algn="l" indent="0" marL="0">
              <a:buNone/>
            </a:pPr>
            <a:r>
              <a:rPr lang="en-US" sz="2200" dirty="0">
                <a:solidFill>
                  <a:schemeClr val="bg1"/>
                </a:solidFill>
              </a:rPr>
              <a:t>A return → judged against the product as sold</a:t>
            </a:r>
            <a:endParaRPr lang="en-US" sz="2200" dirty="0"/>
          </a:p>
        </p:txBody>
      </p:sp>
      <p:sp>
        <p:nvSpPr>
          <p:cNvPr id="12" name="chip-217"/>
          <p:cNvSpPr txBox="1"/>
          <p:nvPr/>
        </p:nvSpPr>
        <p:spPr>
          <a:xfrm>
            <a:off x="548640" y="4599432"/>
            <a:ext cx="475488" cy="475488"/>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5</a:t>
            </a:r>
            <a:endParaRPr lang="en-US" sz="2000" dirty="0"/>
          </a:p>
        </p:txBody>
      </p:sp>
      <p:sp>
        <p:nvSpPr>
          <p:cNvPr id="13" name="demo-step-218"/>
          <p:cNvSpPr txBox="1"/>
          <p:nvPr/>
        </p:nvSpPr>
        <p:spPr>
          <a:xfrm>
            <a:off x="1234440" y="4562856"/>
            <a:ext cx="6355080" cy="548640"/>
          </a:xfrm>
          <a:prstGeom prst="rect">
            <a:avLst/>
          </a:prstGeom>
          <a:noFill/>
          <a:ln/>
        </p:spPr>
        <p:txBody>
          <a:bodyPr wrap="square" lIns="0" tIns="0" rIns="0" bIns="0" rtlCol="0" anchor="ctr"/>
          <a:lstStyle/>
          <a:p>
            <a:pPr algn="l" indent="0" marL="0">
              <a:buNone/>
            </a:pPr>
            <a:r>
              <a:rPr lang="en-US" sz="2200" dirty="0">
                <a:solidFill>
                  <a:schemeClr val="bg1"/>
                </a:solidFill>
              </a:rPr>
              <a:t>Recovery → no claim on evidence newer than the fee</a:t>
            </a:r>
            <a:endParaRPr lang="en-US" sz="2200" dirty="0"/>
          </a:p>
        </p:txBody>
      </p:sp>
      <p:sp>
        <p:nvSpPr>
          <p:cNvPr id="14" name="chip-219"/>
          <p:cNvSpPr txBox="1"/>
          <p:nvPr/>
        </p:nvSpPr>
        <p:spPr>
          <a:xfrm>
            <a:off x="548640" y="5294376"/>
            <a:ext cx="475488" cy="475488"/>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6</a:t>
            </a:r>
            <a:endParaRPr lang="en-US" sz="2000" dirty="0"/>
          </a:p>
        </p:txBody>
      </p:sp>
      <p:sp>
        <p:nvSpPr>
          <p:cNvPr id="15" name="demo-step-220"/>
          <p:cNvSpPr txBox="1"/>
          <p:nvPr/>
        </p:nvSpPr>
        <p:spPr>
          <a:xfrm>
            <a:off x="1234440" y="5257800"/>
            <a:ext cx="6355080" cy="548640"/>
          </a:xfrm>
          <a:prstGeom prst="rect">
            <a:avLst/>
          </a:prstGeom>
          <a:noFill/>
          <a:ln/>
        </p:spPr>
        <p:txBody>
          <a:bodyPr wrap="square" lIns="0" tIns="0" rIns="0" bIns="0" rtlCol="0" anchor="ctr"/>
          <a:lstStyle/>
          <a:p>
            <a:pPr algn="l" indent="0" marL="0">
              <a:buNone/>
            </a:pPr>
            <a:r>
              <a:rPr lang="en-US" sz="2200" dirty="0">
                <a:solidFill>
                  <a:schemeClr val="bg1"/>
                </a:solidFill>
              </a:rPr>
              <a:t>Agent switched off → FAILED, then resume</a:t>
            </a:r>
            <a:endParaRPr lang="en-US" sz="2200" dirty="0"/>
          </a:p>
        </p:txBody>
      </p:sp>
      <p:sp>
        <p:nvSpPr>
          <p:cNvPr id="16" name="thanks-panel-221"/>
          <p:cNvSpPr txBox="1"/>
          <p:nvPr/>
        </p:nvSpPr>
        <p:spPr>
          <a:xfrm>
            <a:off x="8001000" y="1783080"/>
            <a:ext cx="3642055" cy="4023360"/>
          </a:xfrm>
          <a:prstGeom prst="roundRect">
            <a:avLst>
              <a:gd name="adj" fmla="val 2511"/>
            </a:avLst>
          </a:prstGeom>
          <a:solidFill>
            <a:schemeClr val="tx1"/>
          </a:solidFill>
          <a:ln w="31750">
            <a:solidFill>
              <a:schemeClr val="accent2"/>
            </a:solidFill>
          </a:ln>
        </p:spPr>
        <p:txBody>
          <a:bodyPr wrap="square" lIns="127000" tIns="50800" rIns="101600" bIns="50800" rtlCol="0" anchor="ctr"/>
          <a:lstStyle/>
          <a:p>
            <a:pPr algn="l" indent="0" marL="0">
              <a:buNone/>
            </a:pPr>
            <a:endParaRPr lang="en-US" sz="2000" dirty="0"/>
          </a:p>
        </p:txBody>
      </p:sp>
      <p:sp>
        <p:nvSpPr>
          <p:cNvPr id="17" name="thanks-222"/>
          <p:cNvSpPr txBox="1"/>
          <p:nvPr/>
        </p:nvSpPr>
        <p:spPr>
          <a:xfrm>
            <a:off x="8275320" y="2148840"/>
            <a:ext cx="3093415" cy="868680"/>
          </a:xfrm>
          <a:prstGeom prst="rect">
            <a:avLst/>
          </a:prstGeom>
          <a:noFill/>
          <a:ln/>
        </p:spPr>
        <p:txBody>
          <a:bodyPr wrap="square" lIns="0" tIns="0" rIns="0" bIns="0" rtlCol="0" anchor="ctr"/>
          <a:lstStyle/>
          <a:p>
            <a:pPr algn="l" indent="0" marL="0">
              <a:buNone/>
            </a:pPr>
            <a:r>
              <a:rPr lang="en-US" sz="4800" b="1" dirty="0">
                <a:solidFill>
                  <a:schemeClr val="bg1"/>
                </a:solidFill>
                <a:latin typeface="+mj-lt" pitchFamily="34" charset="0"/>
                <a:ea typeface="+mj-lt" pitchFamily="34" charset="-122"/>
                <a:cs typeface="+mj-lt" pitchFamily="34" charset="-120"/>
              </a:rPr>
              <a:t>Thank you</a:t>
            </a:r>
            <a:endParaRPr lang="en-US" sz="4800" dirty="0"/>
          </a:p>
        </p:txBody>
      </p:sp>
      <p:sp>
        <p:nvSpPr>
          <p:cNvPr id="18" name="thanks-url-223"/>
          <p:cNvSpPr txBox="1"/>
          <p:nvPr/>
        </p:nvSpPr>
        <p:spPr>
          <a:xfrm>
            <a:off x="8275320" y="3200400"/>
            <a:ext cx="3093415" cy="457200"/>
          </a:xfrm>
          <a:prstGeom prst="rect">
            <a:avLst/>
          </a:prstGeom>
          <a:noFill/>
          <a:ln/>
        </p:spPr>
        <p:txBody>
          <a:bodyPr wrap="square" lIns="0" tIns="0" rIns="0" bIns="0" rtlCol="0" anchor="t"/>
          <a:lstStyle/>
          <a:p>
            <a:pPr algn="l" indent="0" marL="0">
              <a:buNone/>
            </a:pPr>
            <a:r>
              <a:rPr lang="en-US" sz="2200" b="1" dirty="0">
                <a:solidFill>
                  <a:schemeClr val="accent2"/>
                </a:solidFill>
              </a:rPr>
              <a:t>https://&lt;deployment-url&gt;</a:t>
            </a:r>
            <a:endParaRPr lang="en-US" sz="2200" dirty="0"/>
          </a:p>
        </p:txBody>
      </p:sp>
      <p:sp>
        <p:nvSpPr>
          <p:cNvPr id="19" name="thanks-q-224"/>
          <p:cNvSpPr txBox="1"/>
          <p:nvPr/>
        </p:nvSpPr>
        <p:spPr>
          <a:xfrm>
            <a:off x="8275320" y="3840480"/>
            <a:ext cx="3093415" cy="457200"/>
          </a:xfrm>
          <a:prstGeom prst="rect">
            <a:avLst/>
          </a:prstGeom>
          <a:noFill/>
          <a:ln/>
        </p:spPr>
        <p:txBody>
          <a:bodyPr wrap="square" lIns="0" tIns="0" rIns="0" bIns="0" rtlCol="0" anchor="t"/>
          <a:lstStyle/>
          <a:p>
            <a:pPr algn="l" indent="0" marL="0">
              <a:buNone/>
            </a:pPr>
            <a:r>
              <a:rPr lang="en-US" sz="2200" dirty="0">
                <a:solidFill>
                  <a:schemeClr val="bg1"/>
                </a:solidFill>
              </a:rPr>
              <a:t>Questions welcome</a:t>
            </a:r>
            <a:endParaRPr lang="en-US" sz="2200" dirty="0"/>
          </a:p>
        </p:txBody>
      </p:sp>
      <p:sp>
        <p:nvSpPr>
          <p:cNvPr id="20" name="thanks-fallback-225"/>
          <p:cNvSpPr txBox="1"/>
          <p:nvPr/>
        </p:nvSpPr>
        <p:spPr>
          <a:xfrm>
            <a:off x="8275320" y="4663440"/>
            <a:ext cx="3093415" cy="731520"/>
          </a:xfrm>
          <a:prstGeom prst="rect">
            <a:avLst/>
          </a:prstGeom>
          <a:noFill/>
          <a:ln/>
        </p:spPr>
        <p:txBody>
          <a:bodyPr wrap="square" lIns="0" tIns="0" rIns="0" bIns="0" rtlCol="0" anchor="t"/>
          <a:lstStyle/>
          <a:p>
            <a:pPr algn="l" indent="0" marL="0">
              <a:buNone/>
            </a:pPr>
            <a:r>
              <a:rPr lang="en-US" sz="1600" dirty="0">
                <a:solidFill>
                  <a:schemeClr val="accent5"/>
                </a:solidFill>
              </a:rPr>
              <a:t>Fallback: our recorded console walkthrough</a:t>
            </a:r>
            <a:endParaRPr lang="en-US" sz="1600" dirty="0"/>
          </a:p>
        </p:txBody>
      </p:sp>
      <p:sp>
        <p:nvSpPr>
          <p:cNvPr id="25" name="Slide Number Placeholder 0"/>
          <p:cNvSpPr>
            <a:spLocks noGrp="1"/>
          </p:cNvSpPr>
          <p:nvPr>
            <p:ph type="sldNum" sz="quarter" idx="4294967295"/>
          </p:nvPr>
        </p:nvSpPr>
        <p:spPr>
          <a:xfrm>
            <a:off x="11000232" y="638251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Pod 12 Finale">
  <a:themeElements>
    <a:clrScheme name="Pod 12 Finale">
      <a:dk1>
        <a:srgbClr val="17131A"/>
      </a:dk1>
      <a:lt1>
        <a:srgbClr val="FFFFFF"/>
      </a:lt1>
      <a:dk2>
        <a:srgbClr val="4A4350"/>
      </a:dk2>
      <a:lt2>
        <a:srgbClr val="F3F0F4"/>
      </a:lt2>
      <a:accent1>
        <a:srgbClr val="B5136F"/>
      </a:accent1>
      <a:accent2>
        <a:srgbClr val="F19BE4"/>
      </a:accent2>
      <a:accent3>
        <a:srgbClr val="FBE3F1"/>
      </a:accent3>
      <a:accent4>
        <a:srgbClr val="6B6470"/>
      </a:accent4>
      <a:accent5>
        <a:srgbClr val="D9D3DC"/>
      </a:accent5>
      <a:accent6>
        <a:srgbClr val="8A0F55"/>
      </a:accent6>
      <a:hlink>
        <a:srgbClr val="B5136F"/>
      </a:hlink>
      <a:folHlink>
        <a:srgbClr val="6B6470"/>
      </a:folHlink>
    </a:clrScheme>
    <a:fontScheme name="Pod 12 Final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Pod 12 · CUBE Buildathon 2026 Grand Finale</dc:title>
  <dc:subject>PptxGenJS Presentation</dc:subject>
  <dc:creator>Pod 12</dc:creator>
  <cp:lastModifiedBy>Pod 12</cp:lastModifiedBy>
  <cp:revision>1</cp:revision>
  <dcterms:created xsi:type="dcterms:W3CDTF">2026-10-09T15:14:02Z</dcterms:created>
  <dcterms:modified xsi:type="dcterms:W3CDTF">2026-10-09T15:14:02Z</dcterms:modified>
</cp:coreProperties>
</file>